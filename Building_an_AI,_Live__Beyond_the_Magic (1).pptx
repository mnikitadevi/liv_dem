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85800" y="1058307"/>
            <a:ext cx="7772400" cy="1257300"/>
          </a:xfrm>
          <a:prstGeom prst="rect">
            <a:avLst/>
          </a:prstGeom>
          <a:noFill/>
          <a:ln/>
        </p:spPr>
        <p:txBody>
          <a:bodyPr wrap="square" lIns="0" tIns="0" rIns="0" bIns="0" rtlCol="0" anchor="t">
            <a:spAutoFit/>
          </a:bodyPr>
          <a:lstStyle/>
          <a:p>
            <a:pPr algn="ctr" indent="0" marL="0">
              <a:lnSpc>
                <a:spcPct val="88000"/>
              </a:lnSpc>
              <a:buNone/>
            </a:pPr>
            <a:r>
              <a:rPr lang="en-US" sz="4150" b="1" dirty="0">
                <a:solidFill>
                  <a:srgbClr val="990000"/>
                </a:solidFill>
                <a:latin typeface="Playfair Display Bold" pitchFamily="34" charset="0"/>
                <a:ea typeface="Playfair Display Bold" pitchFamily="34" charset="-122"/>
                <a:cs typeface="Playfair Display Bold" pitchFamily="34" charset="-120"/>
              </a:rPr>
              <a:t>Building an AI, Live:</a:t>
            </a:r>
            <a:r>
              <a:rPr lang="en-US" sz="4150" b="1" dirty="0">
                <a:solidFill>
                  <a:srgbClr val="990000"/>
                </a:solidFill>
                <a:latin typeface="Playfair Display Bold" pitchFamily="34" charset="0"/>
                <a:ea typeface="Playfair Display Bold" pitchFamily="34" charset="-122"/>
                <a:cs typeface="Playfair Display Bold" pitchFamily="34" charset="-120"/>
              </a:rPr>
              <a:t>
</a:t>
            </a:r>
            <a:r>
              <a:rPr lang="en-US" sz="4150" b="1" dirty="0">
                <a:solidFill>
                  <a:srgbClr val="990000"/>
                </a:solidFill>
                <a:latin typeface="Playfair Display Bold" pitchFamily="34" charset="0"/>
                <a:ea typeface="Playfair Display Bold" pitchFamily="34" charset="-122"/>
                <a:cs typeface="Playfair Display Bold" pitchFamily="34" charset="-120"/>
              </a:rPr>
              <a:t>Beyond the Magic</a:t>
            </a:r>
            <a:endParaRPr lang="en-US" sz="4150" dirty="0"/>
          </a:p>
        </p:txBody>
      </p:sp>
      <p:sp>
        <p:nvSpPr>
          <p:cNvPr id="4" name="Text 1"/>
          <p:cNvSpPr/>
          <p:nvPr/>
        </p:nvSpPr>
        <p:spPr>
          <a:xfrm>
            <a:off x="685800" y="2505335"/>
            <a:ext cx="7772400" cy="276820"/>
          </a:xfrm>
          <a:prstGeom prst="rect">
            <a:avLst/>
          </a:prstGeom>
          <a:noFill/>
          <a:ln/>
        </p:spPr>
        <p:txBody>
          <a:bodyPr wrap="square" lIns="0" tIns="0" rIns="0" bIns="0" rtlCol="0" anchor="t">
            <a:spAutoFit/>
          </a:bodyPr>
          <a:lstStyle/>
          <a:p>
            <a:pPr algn="ctr" indent="0" marL="0">
              <a:buNone/>
            </a:pPr>
            <a:r>
              <a:rPr lang="en-US" sz="1700" dirty="0">
                <a:solidFill>
                  <a:srgbClr val="005F73"/>
                </a:solidFill>
                <a:latin typeface="Inter" pitchFamily="34" charset="0"/>
                <a:ea typeface="Inter" pitchFamily="34" charset="-122"/>
                <a:cs typeface="Inter" pitchFamily="34" charset="-120"/>
              </a:rPr>
              <a:t>Demystifying Machine Learning for the Next Generation</a:t>
            </a:r>
            <a:endParaRPr lang="en-US" sz="1700" dirty="0"/>
          </a:p>
        </p:txBody>
      </p:sp>
      <p:sp>
        <p:nvSpPr>
          <p:cNvPr id="5" name="Text 2"/>
          <p:cNvSpPr/>
          <p:nvPr/>
        </p:nvSpPr>
        <p:spPr>
          <a:xfrm>
            <a:off x="685800" y="3067906"/>
            <a:ext cx="7772400" cy="257175"/>
          </a:xfrm>
          <a:prstGeom prst="rect">
            <a:avLst/>
          </a:prstGeom>
          <a:noFill/>
          <a:ln/>
        </p:spPr>
        <p:txBody>
          <a:bodyPr wrap="none" lIns="0" tIns="0" rIns="0" bIns="0" rtlCol="0" anchor="t">
            <a:spAutoFit/>
          </a:bodyPr>
          <a:lstStyle/>
          <a:p>
            <a:pPr algn="ctr" indent="0" marL="0">
              <a:lnSpc>
                <a:spcPct val="120000"/>
              </a:lnSpc>
              <a:buNone/>
            </a:pPr>
            <a:r>
              <a:rPr lang="en-US" sz="1250" dirty="0">
                <a:solidFill>
                  <a:srgbClr val="000000"/>
                </a:solidFill>
                <a:latin typeface="Inter" pitchFamily="34" charset="0"/>
                <a:ea typeface="Inter" pitchFamily="34" charset="-122"/>
                <a:cs typeface="Inter" pitchFamily="34" charset="-120"/>
              </a:rPr>
              <a:t>Presented by [Your Name]</a:t>
            </a:r>
            <a:endParaRPr lang="en-US" sz="1250" dirty="0"/>
          </a:p>
        </p:txBody>
      </p:sp>
      <p:sp>
        <p:nvSpPr>
          <p:cNvPr id="6" name="Text 3"/>
          <p:cNvSpPr/>
          <p:nvPr/>
        </p:nvSpPr>
        <p:spPr>
          <a:xfrm>
            <a:off x="3585270" y="3553681"/>
            <a:ext cx="1973461" cy="571500"/>
          </a:xfrm>
          <a:prstGeom prst="rect">
            <a:avLst/>
          </a:prstGeom>
          <a:noFill/>
          <a:ln/>
        </p:spPr>
        <p:txBody>
          <a:bodyPr wrap="square" lIns="119126" tIns="119126" rIns="119126" bIns="119126" rtlCol="0" anchor="t">
            <a:spAutoFit/>
          </a:bodyPr>
          <a:lstStyle/>
          <a:p>
            <a:pPr algn="ctr" indent="0" marL="0">
              <a:lnSpc>
                <a:spcPct val="120000"/>
              </a:lnSpc>
              <a:buNone/>
            </a:pPr>
            <a:r>
              <a:rPr lang="en-US" sz="1200" b="1" dirty="0">
                <a:solidFill>
                  <a:srgbClr val="000000"/>
                </a:solidFill>
                <a:latin typeface="Inter Bold" pitchFamily="34" charset="0"/>
                <a:ea typeface="Inter Bold" pitchFamily="34" charset="-122"/>
                <a:cs typeface="Inter Bold" pitchFamily="34" charset="-120"/>
              </a:rPr>
              <a:t>IEEE EU-REKA 2026</a:t>
            </a:r>
            <a:endParaRPr lang="en-US" sz="1200" dirty="0"/>
          </a:p>
        </p:txBody>
      </p:sp>
      <p:sp>
        <p:nvSpPr>
          <p:cNvPr id="7" name="Text 4"/>
          <p:cNvSpPr/>
          <p:nvPr/>
        </p:nvSpPr>
        <p:spPr>
          <a:xfrm>
            <a:off x="685800" y="4125181"/>
            <a:ext cx="7772400" cy="257175"/>
          </a:xfrm>
          <a:prstGeom prst="rect">
            <a:avLst/>
          </a:prstGeom>
          <a:noFill/>
          <a:ln/>
        </p:spPr>
        <p:txBody>
          <a:bodyPr wrap="none" lIns="0" tIns="0" rIns="0" bIns="0" rtlCol="0" anchor="t">
            <a:spAutoFit/>
          </a:bodyPr>
          <a:lstStyle/>
          <a:p>
            <a:pPr algn="ctr" indent="0" marL="0">
              <a:lnSpc>
                <a:spcPct val="120000"/>
              </a:lnSpc>
              <a:buNone/>
            </a:pPr>
            <a:r>
              <a:rPr lang="en-US" sz="1250" dirty="0">
                <a:solidFill>
                  <a:srgbClr val="000000"/>
                </a:solidFill>
                <a:latin typeface="Inter" pitchFamily="34" charset="0"/>
                <a:ea typeface="Inter" pitchFamily="34" charset="-122"/>
                <a:cs typeface="Inter" pitchFamily="34" charset="-120"/>
              </a:rPr>
              <a:t>Theme: Space Tech, AI, and Robotics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7143750" cy="1005818"/>
          </a:xfrm>
          <a:prstGeom prst="rect">
            <a:avLst/>
          </a:prstGeom>
          <a:noFill/>
          <a:ln/>
        </p:spPr>
        <p:txBody>
          <a:bodyPr wrap="squar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Why Your Grades are Like Amusement Park Tickets</a:t>
            </a:r>
            <a:endParaRPr lang="en-US" sz="3300" dirty="0"/>
          </a:p>
        </p:txBody>
      </p:sp>
      <p:sp>
        <p:nvSpPr>
          <p:cNvPr id="4" name="Text 1"/>
          <p:cNvSpPr/>
          <p:nvPr/>
        </p:nvSpPr>
        <p:spPr>
          <a:xfrm>
            <a:off x="571500" y="2126521"/>
            <a:ext cx="3857625" cy="822871"/>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Think about the last time you went to an amusement park. Your ticket wasn't the goal—the rides were. In school, we often get obsessed with the marks themselves, forgetting what they actually represent.</a:t>
            </a:r>
            <a:endParaRPr lang="en-US" sz="950" dirty="0"/>
          </a:p>
        </p:txBody>
      </p:sp>
      <p:sp>
        <p:nvSpPr>
          <p:cNvPr id="5" name="Text 2"/>
          <p:cNvSpPr/>
          <p:nvPr/>
        </p:nvSpPr>
        <p:spPr>
          <a:xfrm>
            <a:off x="571500" y="3163705"/>
            <a:ext cx="1341239" cy="822954"/>
          </a:xfrm>
          <a:prstGeom prst="rect">
            <a:avLst/>
          </a:prstGeom>
          <a:noFill/>
          <a:ln/>
        </p:spPr>
        <p:txBody>
          <a:bodyPr wrap="square" lIns="204089" tIns="204089" rIns="204089" bIns="204089" rtlCol="0" anchor="t">
            <a:spAutoFit/>
          </a:bodyPr>
          <a:lstStyle/>
          <a:p>
            <a:pPr algn="ctr" indent="0" marL="0">
              <a:lnSpc>
                <a:spcPct val="128000"/>
              </a:lnSpc>
              <a:buNone/>
            </a:pPr>
            <a:r>
              <a:rPr lang="en-US" sz="1600" b="1" dirty="0">
                <a:solidFill>
                  <a:srgbClr val="005F73"/>
                </a:solidFill>
                <a:latin typeface="Playfair Display Bold" pitchFamily="34" charset="0"/>
                <a:ea typeface="Playfair Display Bold" pitchFamily="34" charset="-122"/>
                <a:cs typeface="Playfair Display Bold" pitchFamily="34" charset="-120"/>
              </a:rPr>
              <a:t>ACCESS</a:t>
            </a:r>
            <a:endParaRPr lang="en-US" sz="950" dirty="0"/>
          </a:p>
        </p:txBody>
      </p:sp>
      <p:sp>
        <p:nvSpPr>
          <p:cNvPr id="6" name="Text 3"/>
          <p:cNvSpPr/>
          <p:nvPr/>
        </p:nvSpPr>
        <p:spPr>
          <a:xfrm>
            <a:off x="4714875" y="2126521"/>
            <a:ext cx="3857625"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0000"/>
                </a:solidFill>
                <a:latin typeface="Inter Bold" pitchFamily="34" charset="0"/>
                <a:ea typeface="Inter Bold" pitchFamily="34" charset="-122"/>
                <a:cs typeface="Inter Bold" pitchFamily="34" charset="-120"/>
              </a:rPr>
              <a:t>The Reality Check:</a:t>
            </a:r>
            <a:r>
              <a:rPr lang="en-US" sz="950" dirty="0">
                <a:solidFill>
                  <a:srgbClr val="000000"/>
                </a:solidFill>
                <a:latin typeface="Inter" pitchFamily="34" charset="0"/>
                <a:ea typeface="Inter" pitchFamily="34" charset="-122"/>
                <a:cs typeface="Inter" pitchFamily="34" charset="-120"/>
              </a:rPr>
              <a:t> This isn't just another lecture. We're here </a:t>
            </a:r>
            <a:r>
              <a:rPr lang="en-US" sz="950" dirty="0">
                <a:solidFill>
                  <a:srgbClr val="000000"/>
                </a:solidFill>
                <a:latin typeface="Inter" pitchFamily="34" charset="0"/>
                <a:ea typeface="Inter" pitchFamily="34" charset="-122"/>
                <a:cs typeface="Inter" pitchFamily="34" charset="-120"/>
              </a:rPr>
              <a:t>to look behind the curtain of the technology that is rapidly </a:t>
            </a:r>
            <a:r>
              <a:rPr lang="en-US" sz="950" dirty="0">
                <a:solidFill>
                  <a:srgbClr val="000000"/>
                </a:solidFill>
                <a:latin typeface="Inter" pitchFamily="34" charset="0"/>
                <a:ea typeface="Inter" pitchFamily="34" charset="-122"/>
                <a:cs typeface="Inter" pitchFamily="34" charset="-120"/>
              </a:rPr>
              <a:t>redefining what "work" and "creativity" look like.</a:t>
            </a:r>
            <a:endParaRPr lang="en-US" sz="900" dirty="0"/>
          </a:p>
        </p:txBody>
      </p:sp>
      <p:sp>
        <p:nvSpPr>
          <p:cNvPr id="7" name="Text 4"/>
          <p:cNvSpPr/>
          <p:nvPr/>
        </p:nvSpPr>
        <p:spPr>
          <a:xfrm>
            <a:off x="4714875" y="2872262"/>
            <a:ext cx="3857625" cy="411435"/>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AI isn't magic. It's a tool that you can build, break, and master. Today, we start that journey by stripping away the mystery.</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609005"/>
          </a:xfrm>
          <a:prstGeom prst="rect">
            <a:avLst/>
          </a:prstGeom>
          <a:noFill/>
          <a:ln/>
        </p:spPr>
        <p:txBody>
          <a:bodyPr wrap="square" lIns="0" tIns="0" rIns="0" bIns="0" rtlCol="0" anchor="t">
            <a:spAutoFit/>
          </a:bodyPr>
          <a:lstStyle/>
          <a:p>
            <a:pPr algn="l" indent="0" marL="0">
              <a:buNone/>
            </a:pPr>
            <a:r>
              <a:rPr lang="en-US" sz="3300" b="1" dirty="0">
                <a:solidFill>
                  <a:srgbClr val="990000"/>
                </a:solidFill>
                <a:latin typeface="Playfair Display Bold" pitchFamily="34" charset="0"/>
                <a:ea typeface="Playfair Display Bold" pitchFamily="34" charset="-122"/>
                <a:cs typeface="Playfair Display Bold" pitchFamily="34" charset="-120"/>
              </a:rPr>
              <a:t>Our Roadmap for Today</a:t>
            </a:r>
            <a:endParaRPr lang="en-US" sz="3300" dirty="0"/>
          </a:p>
        </p:txBody>
      </p:sp>
      <p:sp>
        <p:nvSpPr>
          <p:cNvPr id="4" name="Text 1"/>
          <p:cNvSpPr/>
          <p:nvPr/>
        </p:nvSpPr>
        <p:spPr>
          <a:xfrm>
            <a:off x="571500" y="1772571"/>
            <a:ext cx="685800" cy="685800"/>
          </a:xfrm>
          <a:prstGeom prst="rect">
            <a:avLst/>
          </a:prstGeom>
          <a:noFill/>
          <a:ln/>
        </p:spPr>
        <p:txBody>
          <a:bodyPr wrap="none" lIns="0" tIns="0" rIns="0" bIns="0" rtlCol="0" anchor="ctr">
            <a:spAutoFit/>
          </a:bodyPr>
          <a:lstStyle/>
          <a:p>
            <a:pPr algn="ctr" indent="0" marL="0">
              <a:buNone/>
            </a:pPr>
            <a:r>
              <a:rPr lang="en-US" sz="1600" b="1" dirty="0">
                <a:solidFill>
                  <a:srgbClr val="990000"/>
                </a:solidFill>
                <a:latin typeface="Playfair Display Bold" pitchFamily="34" charset="0"/>
                <a:ea typeface="Playfair Display Bold" pitchFamily="34" charset="-122"/>
                <a:cs typeface="Playfair Display Bold" pitchFamily="34" charset="-120"/>
              </a:rPr>
              <a:t>1</a:t>
            </a:r>
            <a:endParaRPr lang="en-US" sz="1600" dirty="0"/>
          </a:p>
        </p:txBody>
      </p:sp>
      <p:sp>
        <p:nvSpPr>
          <p:cNvPr id="5" name="Text 2"/>
          <p:cNvSpPr/>
          <p:nvPr/>
        </p:nvSpPr>
        <p:spPr>
          <a:xfrm>
            <a:off x="1471613" y="1898479"/>
            <a:ext cx="1101923" cy="242888"/>
          </a:xfrm>
          <a:prstGeom prst="rect">
            <a:avLst/>
          </a:prstGeom>
          <a:noFill/>
          <a:ln/>
        </p:spPr>
        <p:txBody>
          <a:bodyPr wrap="none" lIns="0" tIns="0" rIns="0" bIns="0" rtlCol="0" anchor="t">
            <a:spAutoFit/>
          </a:bodyPr>
          <a:lstStyle/>
          <a:p>
            <a:pPr algn="l" indent="0" marL="0">
              <a:buNone/>
            </a:pPr>
            <a:r>
              <a:rPr lang="en-US" sz="1400" b="1" dirty="0">
                <a:solidFill>
                  <a:srgbClr val="005F73"/>
                </a:solidFill>
                <a:latin typeface="Inter Bold" pitchFamily="34" charset="0"/>
                <a:ea typeface="Inter Bold" pitchFamily="34" charset="-122"/>
                <a:cs typeface="Inter Bold" pitchFamily="34" charset="-120"/>
              </a:rPr>
              <a:t>What is AI?</a:t>
            </a:r>
            <a:endParaRPr lang="en-US" sz="1400" dirty="0"/>
          </a:p>
        </p:txBody>
      </p:sp>
      <p:sp>
        <p:nvSpPr>
          <p:cNvPr id="6" name="Text 3"/>
          <p:cNvSpPr/>
          <p:nvPr/>
        </p:nvSpPr>
        <p:spPr>
          <a:xfrm>
            <a:off x="1471613" y="2177086"/>
            <a:ext cx="2823567" cy="155377"/>
          </a:xfrm>
          <a:prstGeom prst="rect">
            <a:avLst/>
          </a:prstGeom>
          <a:noFill/>
          <a:ln/>
        </p:spPr>
        <p:txBody>
          <a:bodyPr wrap="square" lIns="0" tIns="0" rIns="0" bIns="0" rtlCol="0" anchor="t">
            <a:spAutoFit/>
          </a:bodyPr>
          <a:lstStyle/>
          <a:p>
            <a:pPr algn="l" indent="0" marL="0">
              <a:buNone/>
            </a:pPr>
            <a:r>
              <a:rPr lang="en-US" sz="950" dirty="0">
                <a:solidFill>
                  <a:srgbClr val="000000"/>
                </a:solidFill>
                <a:latin typeface="Inter" pitchFamily="34" charset="0"/>
                <a:ea typeface="Inter" pitchFamily="34" charset="-122"/>
                <a:cs typeface="Inter" pitchFamily="34" charset="-120"/>
              </a:rPr>
              <a:t>Stripping away the jargon to see the core idea.</a:t>
            </a:r>
            <a:endParaRPr lang="en-US" sz="950" dirty="0"/>
          </a:p>
        </p:txBody>
      </p:sp>
      <p:sp>
        <p:nvSpPr>
          <p:cNvPr id="7" name="Text 4"/>
          <p:cNvSpPr/>
          <p:nvPr/>
        </p:nvSpPr>
        <p:spPr>
          <a:xfrm>
            <a:off x="571500" y="2601246"/>
            <a:ext cx="685800" cy="685800"/>
          </a:xfrm>
          <a:prstGeom prst="rect">
            <a:avLst/>
          </a:prstGeom>
          <a:noFill/>
          <a:ln/>
        </p:spPr>
        <p:txBody>
          <a:bodyPr wrap="none" lIns="0" tIns="0" rIns="0" bIns="0" rtlCol="0" anchor="ctr">
            <a:spAutoFit/>
          </a:bodyPr>
          <a:lstStyle/>
          <a:p>
            <a:pPr algn="ctr" indent="0" marL="0">
              <a:buNone/>
            </a:pPr>
            <a:r>
              <a:rPr lang="en-US" sz="1600" b="1" dirty="0">
                <a:solidFill>
                  <a:srgbClr val="990000"/>
                </a:solidFill>
                <a:latin typeface="Playfair Display Bold" pitchFamily="34" charset="0"/>
                <a:ea typeface="Playfair Display Bold" pitchFamily="34" charset="-122"/>
                <a:cs typeface="Playfair Display Bold" pitchFamily="34" charset="-120"/>
              </a:rPr>
              <a:t>2</a:t>
            </a:r>
            <a:endParaRPr lang="en-US" sz="1600" dirty="0"/>
          </a:p>
        </p:txBody>
      </p:sp>
      <p:sp>
        <p:nvSpPr>
          <p:cNvPr id="8" name="Text 5"/>
          <p:cNvSpPr/>
          <p:nvPr/>
        </p:nvSpPr>
        <p:spPr>
          <a:xfrm>
            <a:off x="1471613" y="2727154"/>
            <a:ext cx="1282303" cy="242888"/>
          </a:xfrm>
          <a:prstGeom prst="rect">
            <a:avLst/>
          </a:prstGeom>
          <a:noFill/>
          <a:ln/>
        </p:spPr>
        <p:txBody>
          <a:bodyPr wrap="none" lIns="0" tIns="0" rIns="0" bIns="0" rtlCol="0" anchor="t">
            <a:spAutoFit/>
          </a:bodyPr>
          <a:lstStyle/>
          <a:p>
            <a:pPr algn="l" indent="0" marL="0">
              <a:buNone/>
            </a:pPr>
            <a:r>
              <a:rPr lang="en-US" sz="1400" b="1" dirty="0">
                <a:solidFill>
                  <a:srgbClr val="005F73"/>
                </a:solidFill>
                <a:latin typeface="Inter Bold" pitchFamily="34" charset="0"/>
                <a:ea typeface="Inter Bold" pitchFamily="34" charset="-122"/>
                <a:cs typeface="Inter Bold" pitchFamily="34" charset="-120"/>
              </a:rPr>
              <a:t>How it's Built</a:t>
            </a:r>
            <a:endParaRPr lang="en-US" sz="1400" dirty="0"/>
          </a:p>
        </p:txBody>
      </p:sp>
      <p:sp>
        <p:nvSpPr>
          <p:cNvPr id="9" name="Text 6"/>
          <p:cNvSpPr/>
          <p:nvPr/>
        </p:nvSpPr>
        <p:spPr>
          <a:xfrm>
            <a:off x="1471613" y="3005761"/>
            <a:ext cx="2761059" cy="155377"/>
          </a:xfrm>
          <a:prstGeom prst="rect">
            <a:avLst/>
          </a:prstGeom>
          <a:noFill/>
          <a:ln/>
        </p:spPr>
        <p:txBody>
          <a:bodyPr wrap="square" lIns="0" tIns="0" rIns="0" bIns="0" rtlCol="0" anchor="t">
            <a:spAutoFit/>
          </a:bodyPr>
          <a:lstStyle/>
          <a:p>
            <a:pPr algn="l" indent="0" marL="0">
              <a:buNone/>
            </a:pPr>
            <a:r>
              <a:rPr lang="en-US" sz="950" dirty="0">
                <a:solidFill>
                  <a:srgbClr val="000000"/>
                </a:solidFill>
                <a:latin typeface="Inter" pitchFamily="34" charset="0"/>
                <a:ea typeface="Inter" pitchFamily="34" charset="-122"/>
                <a:cs typeface="Inter" pitchFamily="34" charset="-120"/>
              </a:rPr>
              <a:t>The step-by-step recipe for creating a model.</a:t>
            </a:r>
            <a:endParaRPr lang="en-US" sz="950" dirty="0"/>
          </a:p>
        </p:txBody>
      </p:sp>
      <p:sp>
        <p:nvSpPr>
          <p:cNvPr id="10" name="Text 7"/>
          <p:cNvSpPr/>
          <p:nvPr/>
        </p:nvSpPr>
        <p:spPr>
          <a:xfrm>
            <a:off x="571500" y="3429921"/>
            <a:ext cx="685800" cy="685800"/>
          </a:xfrm>
          <a:prstGeom prst="rect">
            <a:avLst/>
          </a:prstGeom>
          <a:noFill/>
          <a:ln/>
        </p:spPr>
        <p:txBody>
          <a:bodyPr wrap="none" lIns="0" tIns="0" rIns="0" bIns="0" rtlCol="0" anchor="ctr">
            <a:spAutoFit/>
          </a:bodyPr>
          <a:lstStyle/>
          <a:p>
            <a:pPr algn="ctr" indent="0" marL="0">
              <a:buNone/>
            </a:pPr>
            <a:r>
              <a:rPr lang="en-US" sz="1600" b="1" dirty="0">
                <a:solidFill>
                  <a:srgbClr val="990000"/>
                </a:solidFill>
                <a:latin typeface="Playfair Display Bold" pitchFamily="34" charset="0"/>
                <a:ea typeface="Playfair Display Bold" pitchFamily="34" charset="-122"/>
                <a:cs typeface="Playfair Display Bold" pitchFamily="34" charset="-120"/>
              </a:rPr>
              <a:t>3</a:t>
            </a:r>
            <a:endParaRPr lang="en-US" sz="1600" dirty="0"/>
          </a:p>
        </p:txBody>
      </p:sp>
      <p:sp>
        <p:nvSpPr>
          <p:cNvPr id="11" name="Text 8"/>
          <p:cNvSpPr/>
          <p:nvPr/>
        </p:nvSpPr>
        <p:spPr>
          <a:xfrm>
            <a:off x="1471613" y="3555829"/>
            <a:ext cx="1251942" cy="242888"/>
          </a:xfrm>
          <a:prstGeom prst="rect">
            <a:avLst/>
          </a:prstGeom>
          <a:noFill/>
          <a:ln/>
        </p:spPr>
        <p:txBody>
          <a:bodyPr wrap="none" lIns="0" tIns="0" rIns="0" bIns="0" rtlCol="0" anchor="t">
            <a:spAutoFit/>
          </a:bodyPr>
          <a:lstStyle/>
          <a:p>
            <a:pPr algn="l" indent="0" marL="0">
              <a:buNone/>
            </a:pPr>
            <a:r>
              <a:rPr lang="en-US" sz="1400" b="1" dirty="0">
                <a:solidFill>
                  <a:srgbClr val="005F73"/>
                </a:solidFill>
                <a:latin typeface="Inter Bold" pitchFamily="34" charset="0"/>
                <a:ea typeface="Inter Bold" pitchFamily="34" charset="-122"/>
                <a:cs typeface="Inter Bold" pitchFamily="34" charset="-120"/>
              </a:rPr>
              <a:t>Watch it Live</a:t>
            </a:r>
            <a:endParaRPr lang="en-US" sz="1400" dirty="0"/>
          </a:p>
        </p:txBody>
      </p:sp>
      <p:sp>
        <p:nvSpPr>
          <p:cNvPr id="12" name="Text 9"/>
          <p:cNvSpPr/>
          <p:nvPr/>
        </p:nvSpPr>
        <p:spPr>
          <a:xfrm>
            <a:off x="1471613" y="3834436"/>
            <a:ext cx="2673548" cy="155377"/>
          </a:xfrm>
          <a:prstGeom prst="rect">
            <a:avLst/>
          </a:prstGeom>
          <a:noFill/>
          <a:ln/>
        </p:spPr>
        <p:txBody>
          <a:bodyPr wrap="square" lIns="0" tIns="0" rIns="0" bIns="0" rtlCol="0" anchor="t">
            <a:spAutoFit/>
          </a:bodyPr>
          <a:lstStyle/>
          <a:p>
            <a:pPr algn="l" indent="0" marL="0">
              <a:buNone/>
            </a:pPr>
            <a:r>
              <a:rPr lang="en-US" sz="950" dirty="0">
                <a:solidFill>
                  <a:srgbClr val="000000"/>
                </a:solidFill>
                <a:latin typeface="Inter" pitchFamily="34" charset="0"/>
                <a:ea typeface="Inter" pitchFamily="34" charset="-122"/>
                <a:cs typeface="Inter" pitchFamily="34" charset="-120"/>
              </a:rPr>
              <a:t>A real-time demonstration of an AI in action.</a:t>
            </a:r>
            <a:endParaRPr lang="en-US" sz="950" dirty="0"/>
          </a:p>
        </p:txBody>
      </p:sp>
      <p:sp>
        <p:nvSpPr>
          <p:cNvPr id="13" name="Text 10"/>
          <p:cNvSpPr/>
          <p:nvPr/>
        </p:nvSpPr>
        <p:spPr>
          <a:xfrm>
            <a:off x="571500" y="4258596"/>
            <a:ext cx="685800" cy="685800"/>
          </a:xfrm>
          <a:prstGeom prst="rect">
            <a:avLst/>
          </a:prstGeom>
          <a:noFill/>
          <a:ln/>
        </p:spPr>
        <p:txBody>
          <a:bodyPr wrap="none" lIns="0" tIns="0" rIns="0" bIns="0" rtlCol="0" anchor="ctr">
            <a:spAutoFit/>
          </a:bodyPr>
          <a:lstStyle/>
          <a:p>
            <a:pPr algn="ctr" indent="0" marL="0">
              <a:buNone/>
            </a:pPr>
            <a:r>
              <a:rPr lang="en-US" sz="1600" b="1" dirty="0">
                <a:solidFill>
                  <a:srgbClr val="990000"/>
                </a:solidFill>
                <a:latin typeface="Playfair Display Bold" pitchFamily="34" charset="0"/>
                <a:ea typeface="Playfair Display Bold" pitchFamily="34" charset="-122"/>
                <a:cs typeface="Playfair Display Bold" pitchFamily="34" charset="-120"/>
              </a:rPr>
              <a:t>4</a:t>
            </a:r>
            <a:endParaRPr lang="en-US" sz="1600" dirty="0"/>
          </a:p>
        </p:txBody>
      </p:sp>
      <p:sp>
        <p:nvSpPr>
          <p:cNvPr id="14" name="Text 11"/>
          <p:cNvSpPr/>
          <p:nvPr/>
        </p:nvSpPr>
        <p:spPr>
          <a:xfrm>
            <a:off x="1471613" y="4384504"/>
            <a:ext cx="957263" cy="242888"/>
          </a:xfrm>
          <a:prstGeom prst="rect">
            <a:avLst/>
          </a:prstGeom>
          <a:noFill/>
          <a:ln/>
        </p:spPr>
        <p:txBody>
          <a:bodyPr wrap="none" lIns="0" tIns="0" rIns="0" bIns="0" rtlCol="0" anchor="t">
            <a:spAutoFit/>
          </a:bodyPr>
          <a:lstStyle/>
          <a:p>
            <a:pPr algn="l" indent="0" marL="0">
              <a:buNone/>
            </a:pPr>
            <a:r>
              <a:rPr lang="en-US" sz="1400" b="1" dirty="0">
                <a:solidFill>
                  <a:srgbClr val="005F73"/>
                </a:solidFill>
                <a:latin typeface="Inter Bold" pitchFamily="34" charset="0"/>
                <a:ea typeface="Inter Bold" pitchFamily="34" charset="-122"/>
                <a:cs typeface="Inter Bold" pitchFamily="34" charset="-120"/>
              </a:rPr>
              <a:t>The Twist</a:t>
            </a:r>
            <a:endParaRPr lang="en-US" sz="1400" dirty="0"/>
          </a:p>
        </p:txBody>
      </p:sp>
      <p:sp>
        <p:nvSpPr>
          <p:cNvPr id="15" name="Text 12"/>
          <p:cNvSpPr/>
          <p:nvPr/>
        </p:nvSpPr>
        <p:spPr>
          <a:xfrm>
            <a:off x="1471613" y="4663111"/>
            <a:ext cx="3654028" cy="155377"/>
          </a:xfrm>
          <a:prstGeom prst="rect">
            <a:avLst/>
          </a:prstGeom>
          <a:noFill/>
          <a:ln/>
        </p:spPr>
        <p:txBody>
          <a:bodyPr wrap="square" lIns="0" tIns="0" rIns="0" bIns="0" rtlCol="0" anchor="t">
            <a:spAutoFit/>
          </a:bodyPr>
          <a:lstStyle/>
          <a:p>
            <a:pPr algn="l" indent="0" marL="0">
              <a:buNone/>
            </a:pPr>
            <a:r>
              <a:rPr lang="en-US" sz="950" dirty="0">
                <a:solidFill>
                  <a:srgbClr val="000000"/>
                </a:solidFill>
                <a:latin typeface="Inter" pitchFamily="34" charset="0"/>
                <a:ea typeface="Inter" pitchFamily="34" charset="-122"/>
                <a:cs typeface="Inter" pitchFamily="34" charset="-120"/>
              </a:rPr>
              <a:t>Why some AI works perfectly while others fail spectacularly.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3" name="Text 0"/>
          <p:cNvSpPr/>
          <p:nvPr/>
        </p:nvSpPr>
        <p:spPr>
          <a:xfrm>
            <a:off x="628650" y="79209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AI is Just Teaching by Example</a:t>
            </a:r>
            <a:endParaRPr lang="en-US" sz="3300" dirty="0"/>
          </a:p>
        </p:txBody>
      </p:sp>
      <p:sp>
        <p:nvSpPr>
          <p:cNvPr id="4" name="Text 1"/>
          <p:cNvSpPr/>
          <p:nvPr/>
        </p:nvSpPr>
        <p:spPr>
          <a:xfrm>
            <a:off x="628650" y="1566463"/>
            <a:ext cx="3786188"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Traditional computing relies on </a:t>
            </a:r>
            <a:r>
              <a:rPr lang="en-US" sz="900" b="1" dirty="0">
                <a:solidFill>
                  <a:srgbClr val="005F73"/>
                </a:solidFill>
                <a:latin typeface="Inter Bold" pitchFamily="34" charset="0"/>
                <a:ea typeface="Inter Bold" pitchFamily="34" charset="-122"/>
                <a:cs typeface="Inter Bold" pitchFamily="34" charset="-120"/>
              </a:rPr>
              <a:t>rules</a:t>
            </a:r>
            <a:r>
              <a:rPr lang="en-US" sz="950" dirty="0">
                <a:solidFill>
                  <a:srgbClr val="000000"/>
                </a:solidFill>
                <a:latin typeface="Inter" pitchFamily="34" charset="0"/>
                <a:ea typeface="Inter" pitchFamily="34" charset="-122"/>
                <a:cs typeface="Inter" pitchFamily="34" charset="-120"/>
              </a:rPr>
              <a:t>: "If X happens, then do </a:t>
            </a:r>
            <a:r>
              <a:rPr lang="en-US" sz="950" dirty="0">
                <a:solidFill>
                  <a:srgbClr val="000000"/>
                </a:solidFill>
                <a:latin typeface="Inter" pitchFamily="34" charset="0"/>
                <a:ea typeface="Inter" pitchFamily="34" charset="-122"/>
                <a:cs typeface="Inter" pitchFamily="34" charset="-120"/>
              </a:rPr>
              <a:t>Y." But the world is too complex for every rule to be written by </a:t>
            </a:r>
            <a:r>
              <a:rPr lang="en-US" sz="950" dirty="0">
                <a:solidFill>
                  <a:srgbClr val="000000"/>
                </a:solidFill>
                <a:latin typeface="Inter" pitchFamily="34" charset="0"/>
                <a:ea typeface="Inter" pitchFamily="34" charset="-122"/>
                <a:cs typeface="Inter" pitchFamily="34" charset="-120"/>
              </a:rPr>
              <a:t>hand.</a:t>
            </a:r>
            <a:endParaRPr lang="en-US" sz="950" dirty="0"/>
          </a:p>
        </p:txBody>
      </p:sp>
      <p:sp>
        <p:nvSpPr>
          <p:cNvPr id="5" name="Text 2"/>
          <p:cNvSpPr/>
          <p:nvPr/>
        </p:nvSpPr>
        <p:spPr>
          <a:xfrm>
            <a:off x="628650" y="2255053"/>
            <a:ext cx="3786188"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Modern AI flips this. Instead of rules, we provide </a:t>
            </a:r>
            <a:r>
              <a:rPr lang="en-US" sz="900" b="1" dirty="0">
                <a:solidFill>
                  <a:srgbClr val="005F73"/>
                </a:solidFill>
                <a:latin typeface="Inter Bold" pitchFamily="34" charset="0"/>
                <a:ea typeface="Inter Bold" pitchFamily="34" charset="-122"/>
                <a:cs typeface="Inter Bold" pitchFamily="34" charset="-120"/>
              </a:rPr>
              <a:t>examples</a:t>
            </a:r>
            <a:r>
              <a:rPr lang="en-US" sz="950" dirty="0">
                <a:solidFill>
                  <a:srgbClr val="000000"/>
                </a:solidFill>
                <a:latin typeface="Inter" pitchFamily="34" charset="0"/>
                <a:ea typeface="Inter" pitchFamily="34" charset="-122"/>
                <a:cs typeface="Inter" pitchFamily="34" charset="-120"/>
              </a:rPr>
              <a:t>. </a:t>
            </a:r>
            <a:r>
              <a:rPr lang="en-US" sz="950" dirty="0">
                <a:solidFill>
                  <a:srgbClr val="000000"/>
                </a:solidFill>
                <a:latin typeface="Inter" pitchFamily="34" charset="0"/>
                <a:ea typeface="Inter" pitchFamily="34" charset="-122"/>
                <a:cs typeface="Inter" pitchFamily="34" charset="-120"/>
              </a:rPr>
              <a:t>We show the computer thousands of photos and let it </a:t>
            </a:r>
            <a:r>
              <a:rPr lang="en-US" sz="950" dirty="0">
                <a:solidFill>
                  <a:srgbClr val="000000"/>
                </a:solidFill>
                <a:latin typeface="Inter" pitchFamily="34" charset="0"/>
                <a:ea typeface="Inter" pitchFamily="34" charset="-122"/>
                <a:cs typeface="Inter" pitchFamily="34" charset="-120"/>
              </a:rPr>
              <a:t>discover the patterns itself.</a:t>
            </a:r>
            <a:endParaRPr lang="en-US" sz="950" dirty="0"/>
          </a:p>
        </p:txBody>
      </p:sp>
      <p:sp>
        <p:nvSpPr>
          <p:cNvPr id="6" name="Text 3"/>
          <p:cNvSpPr/>
          <p:nvPr/>
        </p:nvSpPr>
        <p:spPr>
          <a:xfrm>
            <a:off x="628650" y="2943644"/>
            <a:ext cx="3786188"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It is essentially high-speed pattern recognition. The computer </a:t>
            </a:r>
            <a:r>
              <a:rPr lang="en-US" sz="950" dirty="0">
                <a:solidFill>
                  <a:srgbClr val="000000"/>
                </a:solidFill>
                <a:latin typeface="Inter" pitchFamily="34" charset="0"/>
                <a:ea typeface="Inter" pitchFamily="34" charset="-122"/>
                <a:cs typeface="Inter" pitchFamily="34" charset="-120"/>
              </a:rPr>
              <a:t>doesn't "know" what a ball is; it knows what the </a:t>
            </a:r>
            <a:r>
              <a:rPr lang="en-US" sz="950" i="1" dirty="0">
                <a:solidFill>
                  <a:srgbClr val="000000"/>
                </a:solidFill>
                <a:latin typeface="Inter" pitchFamily="34" charset="0"/>
                <a:ea typeface="Inter" pitchFamily="34" charset="-122"/>
                <a:cs typeface="Inter" pitchFamily="34" charset="-120"/>
              </a:rPr>
              <a:t>pixels</a:t>
            </a:r>
            <a:r>
              <a:rPr lang="en-US" sz="950" dirty="0">
                <a:solidFill>
                  <a:srgbClr val="000000"/>
                </a:solidFill>
                <a:latin typeface="Inter" pitchFamily="34" charset="0"/>
                <a:ea typeface="Inter" pitchFamily="34" charset="-122"/>
                <a:cs typeface="Inter" pitchFamily="34" charset="-120"/>
              </a:rPr>
              <a:t> of a </a:t>
            </a:r>
            <a:r>
              <a:rPr lang="en-US" sz="950" dirty="0">
                <a:solidFill>
                  <a:srgbClr val="000000"/>
                </a:solidFill>
                <a:latin typeface="Inter" pitchFamily="34" charset="0"/>
                <a:ea typeface="Inter" pitchFamily="34" charset="-122"/>
                <a:cs typeface="Inter" pitchFamily="34" charset="-120"/>
              </a:rPr>
              <a:t>ball usually look like.</a:t>
            </a:r>
            <a:endParaRPr lang="en-US" sz="950" dirty="0"/>
          </a:p>
        </p:txBody>
      </p:sp>
      <p:sp>
        <p:nvSpPr>
          <p:cNvPr id="7" name="Text 4"/>
          <p:cNvSpPr/>
          <p:nvPr/>
        </p:nvSpPr>
        <p:spPr>
          <a:xfrm>
            <a:off x="6537424" y="1591466"/>
            <a:ext cx="398264" cy="155377"/>
          </a:xfrm>
          <a:prstGeom prst="rect">
            <a:avLst/>
          </a:prstGeom>
          <a:noFill/>
          <a:ln/>
        </p:spPr>
        <p:txBody>
          <a:bodyPr wrap="none" lIns="0" tIns="0" rIns="0" bIns="0" rtlCol="0" anchor="t">
            <a:spAutoFit/>
          </a:bodyPr>
          <a:lstStyle/>
          <a:p>
            <a:pPr algn="ctr"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INPUT</a:t>
            </a:r>
            <a:endParaRPr lang="en-US" sz="900" dirty="0"/>
          </a:p>
        </p:txBody>
      </p:sp>
      <p:sp>
        <p:nvSpPr>
          <p:cNvPr id="8" name="Text 5"/>
          <p:cNvSpPr/>
          <p:nvPr/>
        </p:nvSpPr>
        <p:spPr>
          <a:xfrm>
            <a:off x="4843463" y="1800755"/>
            <a:ext cx="3786188" cy="205718"/>
          </a:xfrm>
          <a:prstGeom prst="rect">
            <a:avLst/>
          </a:prstGeom>
          <a:noFill/>
          <a:ln/>
        </p:spPr>
        <p:txBody>
          <a:bodyPr wrap="none" lIns="0" tIns="0" rIns="0" bIns="0" rtlCol="0" anchor="t">
            <a:spAutoFit/>
          </a:bodyPr>
          <a:lstStyle/>
          <a:p>
            <a:pPr algn="ctr" indent="0" marL="0">
              <a:lnSpc>
                <a:spcPct val="128000"/>
              </a:lnSpc>
              <a:buNone/>
            </a:pPr>
            <a:r>
              <a:rPr lang="en-US" sz="950" dirty="0">
                <a:solidFill>
                  <a:srgbClr val="000000"/>
                </a:solidFill>
                <a:latin typeface="Inter" pitchFamily="34" charset="0"/>
                <a:ea typeface="Inter" pitchFamily="34" charset="-122"/>
                <a:cs typeface="Inter" pitchFamily="34" charset="-120"/>
              </a:rPr>
              <a:t>Photo of a Golf Ball</a:t>
            </a:r>
            <a:endParaRPr lang="en-US" sz="950" dirty="0"/>
          </a:p>
        </p:txBody>
      </p:sp>
      <p:sp>
        <p:nvSpPr>
          <p:cNvPr id="9" name="Text 6"/>
          <p:cNvSpPr/>
          <p:nvPr/>
        </p:nvSpPr>
        <p:spPr>
          <a:xfrm>
            <a:off x="6632972" y="2092198"/>
            <a:ext cx="207169" cy="228600"/>
          </a:xfrm>
          <a:prstGeom prst="rect">
            <a:avLst/>
          </a:prstGeom>
          <a:noFill/>
          <a:ln/>
        </p:spPr>
        <p:txBody>
          <a:bodyPr wrap="none" lIns="0" tIns="0" rIns="0" bIns="0" rtlCol="0" anchor="t">
            <a:spAutoFit/>
          </a:bodyPr>
          <a:lstStyle/>
          <a:p>
            <a:pPr algn="ctr" indent="0" marL="0">
              <a:lnSpc>
                <a:spcPct val="80000"/>
              </a:lnSpc>
              <a:buNone/>
            </a:pPr>
            <a:r>
              <a:rPr lang="en-US" sz="1600" b="1" dirty="0">
                <a:solidFill>
                  <a:srgbClr val="990000"/>
                </a:solidFill>
                <a:latin typeface="Inter Bold" pitchFamily="34" charset="0"/>
                <a:ea typeface="Inter Bold" pitchFamily="34" charset="-122"/>
                <a:cs typeface="Inter Bold" pitchFamily="34" charset="-120"/>
              </a:rPr>
              <a:t>↓</a:t>
            </a:r>
            <a:endParaRPr lang="en-US" sz="1600" dirty="0"/>
          </a:p>
        </p:txBody>
      </p:sp>
      <p:sp>
        <p:nvSpPr>
          <p:cNvPr id="10" name="Text 7"/>
          <p:cNvSpPr/>
          <p:nvPr/>
        </p:nvSpPr>
        <p:spPr>
          <a:xfrm>
            <a:off x="6216848" y="2463673"/>
            <a:ext cx="1039416" cy="531484"/>
          </a:xfrm>
          <a:prstGeom prst="rect">
            <a:avLst/>
          </a:prstGeom>
          <a:noFill/>
          <a:ln/>
        </p:spPr>
        <p:txBody>
          <a:bodyPr wrap="square" lIns="102108" tIns="102108" rIns="102108" bIns="102108" rtlCol="0" anchor="t">
            <a:spAutoFit/>
          </a:bodyPr>
          <a:lstStyle/>
          <a:p>
            <a:pPr algn="ctr" indent="0" marL="0">
              <a:lnSpc>
                <a:spcPct val="128000"/>
              </a:lnSpc>
              <a:buNone/>
            </a:pPr>
            <a:r>
              <a:rPr lang="en-US" sz="1200" b="1" dirty="0">
                <a:solidFill>
                  <a:srgbClr val="005F73"/>
                </a:solidFill>
                <a:latin typeface="Playfair Display Bold" pitchFamily="34" charset="0"/>
                <a:ea typeface="Playfair Display Bold" pitchFamily="34" charset="-122"/>
                <a:cs typeface="Playfair Display Bold" pitchFamily="34" charset="-120"/>
              </a:rPr>
              <a:t>PATTERN</a:t>
            </a:r>
            <a:endParaRPr lang="en-US" sz="1200" dirty="0"/>
          </a:p>
        </p:txBody>
      </p:sp>
      <p:sp>
        <p:nvSpPr>
          <p:cNvPr id="11" name="Text 8"/>
          <p:cNvSpPr/>
          <p:nvPr/>
        </p:nvSpPr>
        <p:spPr>
          <a:xfrm>
            <a:off x="6632972" y="3080882"/>
            <a:ext cx="207169" cy="228600"/>
          </a:xfrm>
          <a:prstGeom prst="rect">
            <a:avLst/>
          </a:prstGeom>
          <a:noFill/>
          <a:ln/>
        </p:spPr>
        <p:txBody>
          <a:bodyPr wrap="none" lIns="0" tIns="0" rIns="0" bIns="0" rtlCol="0" anchor="t">
            <a:spAutoFit/>
          </a:bodyPr>
          <a:lstStyle/>
          <a:p>
            <a:pPr algn="ctr" indent="0" marL="0">
              <a:lnSpc>
                <a:spcPct val="80000"/>
              </a:lnSpc>
              <a:buNone/>
            </a:pPr>
            <a:r>
              <a:rPr lang="en-US" sz="1600" b="1" dirty="0">
                <a:solidFill>
                  <a:srgbClr val="990000"/>
                </a:solidFill>
                <a:latin typeface="Inter Bold" pitchFamily="34" charset="0"/>
                <a:ea typeface="Inter Bold" pitchFamily="34" charset="-122"/>
                <a:cs typeface="Inter Bold" pitchFamily="34" charset="-120"/>
              </a:rPr>
              <a:t>↓</a:t>
            </a:r>
            <a:endParaRPr lang="en-US" sz="1600" dirty="0"/>
          </a:p>
        </p:txBody>
      </p:sp>
      <p:sp>
        <p:nvSpPr>
          <p:cNvPr id="12" name="Text 9"/>
          <p:cNvSpPr/>
          <p:nvPr/>
        </p:nvSpPr>
        <p:spPr>
          <a:xfrm>
            <a:off x="6465094" y="3434497"/>
            <a:ext cx="542925" cy="155377"/>
          </a:xfrm>
          <a:prstGeom prst="rect">
            <a:avLst/>
          </a:prstGeom>
          <a:noFill/>
          <a:ln/>
        </p:spPr>
        <p:txBody>
          <a:bodyPr wrap="none" lIns="0" tIns="0" rIns="0" bIns="0" rtlCol="0" anchor="t">
            <a:spAutoFit/>
          </a:bodyPr>
          <a:lstStyle/>
          <a:p>
            <a:pPr algn="ctr"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OUTPUT</a:t>
            </a:r>
            <a:endParaRPr lang="en-US" sz="900" dirty="0"/>
          </a:p>
        </p:txBody>
      </p:sp>
      <p:sp>
        <p:nvSpPr>
          <p:cNvPr id="13" name="Text 10"/>
          <p:cNvSpPr/>
          <p:nvPr/>
        </p:nvSpPr>
        <p:spPr>
          <a:xfrm>
            <a:off x="4843463" y="3643787"/>
            <a:ext cx="3786188" cy="205718"/>
          </a:xfrm>
          <a:prstGeom prst="rect">
            <a:avLst/>
          </a:prstGeom>
          <a:noFill/>
          <a:ln/>
        </p:spPr>
        <p:txBody>
          <a:bodyPr wrap="none" lIns="0" tIns="0" rIns="0" bIns="0" rtlCol="0" anchor="t">
            <a:spAutoFit/>
          </a:bodyPr>
          <a:lstStyle/>
          <a:p>
            <a:pPr algn="ctr" indent="0" marL="0">
              <a:lnSpc>
                <a:spcPct val="128000"/>
              </a:lnSpc>
              <a:buNone/>
            </a:pPr>
            <a:r>
              <a:rPr lang="en-US" sz="950" dirty="0">
                <a:solidFill>
                  <a:srgbClr val="000000"/>
                </a:solidFill>
                <a:latin typeface="Inter" pitchFamily="34" charset="0"/>
                <a:ea typeface="Inter" pitchFamily="34" charset="-122"/>
                <a:cs typeface="Inter" pitchFamily="34" charset="-120"/>
              </a:rPr>
              <a:t>"Golf Ball"</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 y="57150"/>
            <a:ext cx="9029700" cy="5143500"/>
          </a:xfrm>
          <a:prstGeom prst="rect">
            <a:avLst/>
          </a:prstGeom>
        </p:spPr>
      </p:pic>
      <p:sp>
        <p:nvSpPr>
          <p:cNvPr id="3" name="Text 0"/>
          <p:cNvSpPr/>
          <p:nvPr/>
        </p:nvSpPr>
        <p:spPr>
          <a:xfrm>
            <a:off x="628650" y="792091"/>
            <a:ext cx="8572500" cy="609005"/>
          </a:xfrm>
          <a:prstGeom prst="rect">
            <a:avLst/>
          </a:prstGeom>
          <a:noFill/>
          <a:ln/>
        </p:spPr>
        <p:txBody>
          <a:bodyPr wrap="square" lIns="0" tIns="0" rIns="0" bIns="0" rtlCol="0" anchor="t">
            <a:spAutoFit/>
          </a:bodyPr>
          <a:lstStyle/>
          <a:p>
            <a:pPr algn="l" indent="0" marL="0">
              <a:buNone/>
            </a:pPr>
            <a:r>
              <a:rPr lang="en-US" sz="3300" b="1" dirty="0">
                <a:solidFill>
                  <a:srgbClr val="990000"/>
                </a:solidFill>
                <a:latin typeface="Playfair Display Bold" pitchFamily="34" charset="0"/>
                <a:ea typeface="Playfair Display Bold" pitchFamily="34" charset="-122"/>
                <a:cs typeface="Playfair Display Bold" pitchFamily="34" charset="-120"/>
              </a:rPr>
              <a:t>The Five Steps of the AI Recipe</a:t>
            </a:r>
            <a:endParaRPr lang="en-US" sz="3300" dirty="0"/>
          </a:p>
        </p:txBody>
      </p:sp>
      <p:sp>
        <p:nvSpPr>
          <p:cNvPr id="4" name="Text 1"/>
          <p:cNvSpPr/>
          <p:nvPr/>
        </p:nvSpPr>
        <p:spPr>
          <a:xfrm>
            <a:off x="1014413" y="1343946"/>
            <a:ext cx="542925" cy="542925"/>
          </a:xfrm>
          <a:prstGeom prst="rect">
            <a:avLst/>
          </a:prstGeom>
          <a:noFill/>
          <a:ln/>
        </p:spPr>
        <p:txBody>
          <a:bodyPr wrap="none" lIns="0" tIns="0" rIns="0" bIns="0" rtlCol="0" anchor="ctr">
            <a:spAutoFit/>
          </a:bodyPr>
          <a:lstStyle/>
          <a:p>
            <a:pPr algn="ctr" indent="0" marL="0">
              <a:buNone/>
            </a:pPr>
            <a:r>
              <a:rPr lang="en-US" sz="1200" b="1" dirty="0">
                <a:solidFill>
                  <a:srgbClr val="005F73"/>
                </a:solidFill>
                <a:latin typeface="Playfair Display Bold" pitchFamily="34" charset="0"/>
                <a:ea typeface="Playfair Display Bold" pitchFamily="34" charset="-122"/>
                <a:cs typeface="Playfair Display Bold" pitchFamily="34" charset="-120"/>
              </a:rPr>
              <a:t>1</a:t>
            </a:r>
            <a:endParaRPr lang="en-US" sz="1200" dirty="0"/>
          </a:p>
        </p:txBody>
      </p:sp>
      <p:sp>
        <p:nvSpPr>
          <p:cNvPr id="5" name="Text 2"/>
          <p:cNvSpPr/>
          <p:nvPr/>
        </p:nvSpPr>
        <p:spPr>
          <a:xfrm>
            <a:off x="1008162" y="1929733"/>
            <a:ext cx="555427"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Collect</a:t>
            </a:r>
            <a:endParaRPr lang="en-US" sz="1200" dirty="0"/>
          </a:p>
        </p:txBody>
      </p:sp>
      <p:sp>
        <p:nvSpPr>
          <p:cNvPr id="6" name="Text 3"/>
          <p:cNvSpPr/>
          <p:nvPr/>
        </p:nvSpPr>
        <p:spPr>
          <a:xfrm>
            <a:off x="2686050" y="1343946"/>
            <a:ext cx="542925" cy="542925"/>
          </a:xfrm>
          <a:prstGeom prst="rect">
            <a:avLst/>
          </a:prstGeom>
          <a:noFill/>
          <a:ln/>
        </p:spPr>
        <p:txBody>
          <a:bodyPr wrap="none" lIns="0" tIns="0" rIns="0" bIns="0" rtlCol="0" anchor="ctr">
            <a:spAutoFit/>
          </a:bodyPr>
          <a:lstStyle/>
          <a:p>
            <a:pPr algn="ctr" indent="0" marL="0">
              <a:buNone/>
            </a:pPr>
            <a:r>
              <a:rPr lang="en-US" sz="1200" b="1" dirty="0">
                <a:solidFill>
                  <a:srgbClr val="005F73"/>
                </a:solidFill>
                <a:latin typeface="Playfair Display Bold" pitchFamily="34" charset="0"/>
                <a:ea typeface="Playfair Display Bold" pitchFamily="34" charset="-122"/>
                <a:cs typeface="Playfair Display Bold" pitchFamily="34" charset="-120"/>
              </a:rPr>
              <a:t>2</a:t>
            </a:r>
            <a:endParaRPr lang="en-US" sz="1200" dirty="0"/>
          </a:p>
        </p:txBody>
      </p:sp>
      <p:sp>
        <p:nvSpPr>
          <p:cNvPr id="7" name="Text 4"/>
          <p:cNvSpPr/>
          <p:nvPr/>
        </p:nvSpPr>
        <p:spPr>
          <a:xfrm>
            <a:off x="2730698" y="1929733"/>
            <a:ext cx="453628"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Clean</a:t>
            </a:r>
            <a:endParaRPr lang="en-US" sz="1200" dirty="0"/>
          </a:p>
        </p:txBody>
      </p:sp>
      <p:sp>
        <p:nvSpPr>
          <p:cNvPr id="8" name="Text 5"/>
          <p:cNvSpPr/>
          <p:nvPr/>
        </p:nvSpPr>
        <p:spPr>
          <a:xfrm>
            <a:off x="4357688" y="1343946"/>
            <a:ext cx="542925" cy="542925"/>
          </a:xfrm>
          <a:prstGeom prst="rect">
            <a:avLst/>
          </a:prstGeom>
          <a:noFill/>
          <a:ln/>
        </p:spPr>
        <p:txBody>
          <a:bodyPr wrap="none" lIns="0" tIns="0" rIns="0" bIns="0" rtlCol="0" anchor="ctr">
            <a:spAutoFit/>
          </a:bodyPr>
          <a:lstStyle/>
          <a:p>
            <a:pPr algn="ctr" indent="0" marL="0">
              <a:buNone/>
            </a:pPr>
            <a:r>
              <a:rPr lang="en-US" sz="1200" b="1" dirty="0">
                <a:solidFill>
                  <a:srgbClr val="005F73"/>
                </a:solidFill>
                <a:latin typeface="Playfair Display Bold" pitchFamily="34" charset="0"/>
                <a:ea typeface="Playfair Display Bold" pitchFamily="34" charset="-122"/>
                <a:cs typeface="Playfair Display Bold" pitchFamily="34" charset="-120"/>
              </a:rPr>
              <a:t>3</a:t>
            </a:r>
            <a:endParaRPr lang="en-US" sz="1200" dirty="0"/>
          </a:p>
        </p:txBody>
      </p:sp>
      <p:sp>
        <p:nvSpPr>
          <p:cNvPr id="9" name="Text 6"/>
          <p:cNvSpPr/>
          <p:nvPr/>
        </p:nvSpPr>
        <p:spPr>
          <a:xfrm>
            <a:off x="4407694" y="1929733"/>
            <a:ext cx="442913"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Train</a:t>
            </a:r>
            <a:endParaRPr lang="en-US" sz="1200" dirty="0"/>
          </a:p>
        </p:txBody>
      </p:sp>
      <p:sp>
        <p:nvSpPr>
          <p:cNvPr id="10" name="Text 7"/>
          <p:cNvSpPr/>
          <p:nvPr/>
        </p:nvSpPr>
        <p:spPr>
          <a:xfrm>
            <a:off x="6029325" y="1343946"/>
            <a:ext cx="542925" cy="542925"/>
          </a:xfrm>
          <a:prstGeom prst="rect">
            <a:avLst/>
          </a:prstGeom>
          <a:noFill/>
          <a:ln/>
        </p:spPr>
        <p:txBody>
          <a:bodyPr wrap="none" lIns="0" tIns="0" rIns="0" bIns="0" rtlCol="0" anchor="ctr">
            <a:spAutoFit/>
          </a:bodyPr>
          <a:lstStyle/>
          <a:p>
            <a:pPr algn="ctr" indent="0" marL="0">
              <a:buNone/>
            </a:pPr>
            <a:r>
              <a:rPr lang="en-US" sz="1200" b="1" dirty="0">
                <a:solidFill>
                  <a:srgbClr val="005F73"/>
                </a:solidFill>
                <a:latin typeface="Playfair Display Bold" pitchFamily="34" charset="0"/>
                <a:ea typeface="Playfair Display Bold" pitchFamily="34" charset="-122"/>
                <a:cs typeface="Playfair Display Bold" pitchFamily="34" charset="-120"/>
              </a:rPr>
              <a:t>4</a:t>
            </a:r>
            <a:endParaRPr lang="en-US" sz="1200" dirty="0"/>
          </a:p>
        </p:txBody>
      </p:sp>
      <p:sp>
        <p:nvSpPr>
          <p:cNvPr id="11" name="Text 8"/>
          <p:cNvSpPr/>
          <p:nvPr/>
        </p:nvSpPr>
        <p:spPr>
          <a:xfrm>
            <a:off x="5982891" y="1929733"/>
            <a:ext cx="635794"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Validate</a:t>
            </a:r>
            <a:endParaRPr lang="en-US" sz="1200" dirty="0"/>
          </a:p>
        </p:txBody>
      </p:sp>
      <p:sp>
        <p:nvSpPr>
          <p:cNvPr id="12" name="Text 9"/>
          <p:cNvSpPr/>
          <p:nvPr/>
        </p:nvSpPr>
        <p:spPr>
          <a:xfrm>
            <a:off x="7700963" y="1343946"/>
            <a:ext cx="542925" cy="542925"/>
          </a:xfrm>
          <a:prstGeom prst="rect">
            <a:avLst/>
          </a:prstGeom>
          <a:noFill/>
          <a:ln/>
        </p:spPr>
        <p:txBody>
          <a:bodyPr wrap="none" lIns="0" tIns="0" rIns="0" bIns="0" rtlCol="0" anchor="ctr">
            <a:spAutoFit/>
          </a:bodyPr>
          <a:lstStyle/>
          <a:p>
            <a:pPr algn="ctr" indent="0" marL="0">
              <a:buNone/>
            </a:pPr>
            <a:r>
              <a:rPr lang="en-US" sz="1200" b="1" dirty="0">
                <a:solidFill>
                  <a:srgbClr val="005F73"/>
                </a:solidFill>
                <a:latin typeface="Playfair Display Bold" pitchFamily="34" charset="0"/>
                <a:ea typeface="Playfair Display Bold" pitchFamily="34" charset="-122"/>
                <a:cs typeface="Playfair Display Bold" pitchFamily="34" charset="-120"/>
              </a:rPr>
              <a:t>5</a:t>
            </a:r>
            <a:endParaRPr lang="en-US" sz="1200" dirty="0"/>
          </a:p>
        </p:txBody>
      </p:sp>
      <p:sp>
        <p:nvSpPr>
          <p:cNvPr id="13" name="Text 10"/>
          <p:cNvSpPr/>
          <p:nvPr/>
        </p:nvSpPr>
        <p:spPr>
          <a:xfrm>
            <a:off x="7683996" y="1929733"/>
            <a:ext cx="576858"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Predict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Introducing "Model A"</a:t>
            </a:r>
            <a:endParaRPr lang="en-US" sz="3300" dirty="0"/>
          </a:p>
        </p:txBody>
      </p:sp>
      <p:sp>
        <p:nvSpPr>
          <p:cNvPr id="4" name="Text 1"/>
          <p:cNvSpPr/>
          <p:nvPr/>
        </p:nvSpPr>
        <p:spPr>
          <a:xfrm>
            <a:off x="571500" y="1623613"/>
            <a:ext cx="3857625"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The Setup:</a:t>
            </a:r>
            <a:r>
              <a:rPr lang="en-US" sz="950" dirty="0">
                <a:solidFill>
                  <a:srgbClr val="000000"/>
                </a:solidFill>
                <a:latin typeface="Inter" pitchFamily="34" charset="0"/>
                <a:ea typeface="Inter" pitchFamily="34" charset="-122"/>
                <a:cs typeface="Inter" pitchFamily="34" charset="-120"/>
              </a:rPr>
              <a:t> I built this model myself, from scratch, using almost </a:t>
            </a:r>
            <a:r>
              <a:rPr lang="en-US" sz="950" dirty="0">
                <a:solidFill>
                  <a:srgbClr val="000000"/>
                </a:solidFill>
                <a:latin typeface="Inter" pitchFamily="34" charset="0"/>
                <a:ea typeface="Inter" pitchFamily="34" charset="-122"/>
                <a:cs typeface="Inter" pitchFamily="34" charset="-120"/>
              </a:rPr>
              <a:t>no data. It represents the most basic form of machine learning</a:t>
            </a:r>
            <a:r>
              <a:rPr lang="en-US" sz="950" dirty="0">
                <a:solidFill>
                  <a:srgbClr val="000000"/>
                </a:solidFill>
                <a:latin typeface="Inter" pitchFamily="34" charset="0"/>
                <a:ea typeface="Inter" pitchFamily="34" charset="-122"/>
                <a:cs typeface="Inter" pitchFamily="34" charset="-120"/>
              </a:rPr>
              <a:t>—learning patterns without any pre-existing knowledge.</a:t>
            </a:r>
            <a:endParaRPr lang="en-US" sz="900" dirty="0"/>
          </a:p>
        </p:txBody>
      </p:sp>
      <p:sp>
        <p:nvSpPr>
          <p:cNvPr id="5" name="Text 2"/>
          <p:cNvSpPr/>
          <p:nvPr/>
        </p:nvSpPr>
        <p:spPr>
          <a:xfrm>
            <a:off x="2416373" y="2789411"/>
            <a:ext cx="167878" cy="342900"/>
          </a:xfrm>
          <a:prstGeom prst="rect">
            <a:avLst/>
          </a:prstGeom>
          <a:noFill/>
          <a:ln/>
        </p:spPr>
        <p:txBody>
          <a:bodyPr wrap="none" lIns="0" tIns="0" rIns="0" bIns="0" rtlCol="0" anchor="t">
            <a:spAutoFit/>
          </a:bodyPr>
          <a:lstStyle/>
          <a:p>
            <a:pPr algn="ctr" indent="0" marL="0">
              <a:lnSpc>
                <a:spcPct val="80000"/>
              </a:lnSpc>
              <a:buNone/>
            </a:pPr>
            <a:r>
              <a:rPr lang="en-US" sz="2450" b="1" dirty="0">
                <a:solidFill>
                  <a:srgbClr val="005F73"/>
                </a:solidFill>
                <a:latin typeface="Playfair Display Bold" pitchFamily="34" charset="0"/>
                <a:ea typeface="Playfair Display Bold" pitchFamily="34" charset="-122"/>
                <a:cs typeface="Playfair Display Bold" pitchFamily="34" charset="-120"/>
              </a:rPr>
              <a:t>3</a:t>
            </a:r>
            <a:endParaRPr lang="en-US" sz="2450" dirty="0"/>
          </a:p>
        </p:txBody>
      </p:sp>
      <p:sp>
        <p:nvSpPr>
          <p:cNvPr id="6" name="Text 3"/>
          <p:cNvSpPr/>
          <p:nvPr/>
        </p:nvSpPr>
        <p:spPr>
          <a:xfrm>
            <a:off x="2182416" y="3132311"/>
            <a:ext cx="635794" cy="160009"/>
          </a:xfrm>
          <a:prstGeom prst="rect">
            <a:avLst/>
          </a:prstGeom>
          <a:noFill/>
          <a:ln/>
        </p:spPr>
        <p:txBody>
          <a:bodyPr wrap="none" lIns="0" tIns="0" rIns="0" bIns="0" rtlCol="0" anchor="t">
            <a:spAutoFit/>
          </a:bodyPr>
          <a:lstStyle/>
          <a:p>
            <a:pPr algn="ctr" indent="0" marL="0">
              <a:lnSpc>
                <a:spcPct val="128000"/>
              </a:lnSpc>
              <a:buNone/>
            </a:pPr>
            <a:r>
              <a:rPr lang="en-US" sz="700" b="1" dirty="0">
                <a:solidFill>
                  <a:srgbClr val="000000"/>
                </a:solidFill>
                <a:latin typeface="Inter Bold" pitchFamily="34" charset="0"/>
                <a:ea typeface="Inter Bold" pitchFamily="34" charset="-122"/>
                <a:cs typeface="Inter Bold" pitchFamily="34" charset="-120"/>
              </a:rPr>
              <a:t>CATEGORIES</a:t>
            </a:r>
            <a:endParaRPr lang="en-US" sz="700" dirty="0"/>
          </a:p>
        </p:txBody>
      </p:sp>
      <p:sp>
        <p:nvSpPr>
          <p:cNvPr id="7" name="Text 4"/>
          <p:cNvSpPr/>
          <p:nvPr/>
        </p:nvSpPr>
        <p:spPr>
          <a:xfrm>
            <a:off x="571500" y="3740953"/>
            <a:ext cx="3857625" cy="205718"/>
          </a:xfrm>
          <a:prstGeom prst="rect">
            <a:avLst/>
          </a:prstGeom>
          <a:noFill/>
          <a:ln/>
        </p:spPr>
        <p:txBody>
          <a:bodyPr wrap="none" lIns="0" tIns="0" rIns="0" bIns="0" rtlCol="0" anchor="t">
            <a:spAutoFit/>
          </a:bodyPr>
          <a:lstStyle/>
          <a:p>
            <a:pPr algn="ctr" indent="0" marL="0">
              <a:lnSpc>
                <a:spcPct val="128000"/>
              </a:lnSpc>
              <a:buNone/>
            </a:pPr>
            <a:r>
              <a:rPr lang="en-US" sz="950" dirty="0">
                <a:solidFill>
                  <a:srgbClr val="000000"/>
                </a:solidFill>
                <a:latin typeface="Inter" pitchFamily="34" charset="0"/>
                <a:ea typeface="Inter" pitchFamily="34" charset="-122"/>
                <a:cs typeface="Inter" pitchFamily="34" charset="-120"/>
              </a:rPr>
              <a:t>Golf Balls • Chain Saws • Parachutes</a:t>
            </a:r>
            <a:endParaRPr lang="en-US" sz="950" dirty="0"/>
          </a:p>
        </p:txBody>
      </p:sp>
      <p:sp>
        <p:nvSpPr>
          <p:cNvPr id="8" name="Text 5"/>
          <p:cNvSpPr/>
          <p:nvPr/>
        </p:nvSpPr>
        <p:spPr>
          <a:xfrm>
            <a:off x="4714875" y="1623613"/>
            <a:ext cx="3857625"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The Constraints:</a:t>
            </a:r>
            <a:r>
              <a:rPr lang="en-US" sz="950" dirty="0">
                <a:solidFill>
                  <a:srgbClr val="000000"/>
                </a:solidFill>
                <a:latin typeface="Inter" pitchFamily="34" charset="0"/>
                <a:ea typeface="Inter" pitchFamily="34" charset="-122"/>
                <a:cs typeface="Inter" pitchFamily="34" charset="-120"/>
              </a:rPr>
              <a:t> Unlike the AI you use in your phone, this </a:t>
            </a:r>
            <a:r>
              <a:rPr lang="en-US" sz="950" dirty="0">
                <a:solidFill>
                  <a:srgbClr val="000000"/>
                </a:solidFill>
                <a:latin typeface="Inter" pitchFamily="34" charset="0"/>
                <a:ea typeface="Inter" pitchFamily="34" charset="-122"/>
                <a:cs typeface="Inter" pitchFamily="34" charset="-120"/>
              </a:rPr>
              <a:t>model has "no pre-training." It hasn't seen millions of images </a:t>
            </a:r>
            <a:r>
              <a:rPr lang="en-US" sz="950" dirty="0">
                <a:solidFill>
                  <a:srgbClr val="000000"/>
                </a:solidFill>
                <a:latin typeface="Inter" pitchFamily="34" charset="0"/>
                <a:ea typeface="Inter" pitchFamily="34" charset="-122"/>
                <a:cs typeface="Inter" pitchFamily="34" charset="-120"/>
              </a:rPr>
              <a:t>before. It only knows what I showed it in a few seconds.</a:t>
            </a:r>
            <a:endParaRPr lang="en-US" sz="900" dirty="0"/>
          </a:p>
        </p:txBody>
      </p:sp>
      <p:sp>
        <p:nvSpPr>
          <p:cNvPr id="9" name="Text 6"/>
          <p:cNvSpPr/>
          <p:nvPr/>
        </p:nvSpPr>
        <p:spPr>
          <a:xfrm>
            <a:off x="4714875" y="2369353"/>
            <a:ext cx="3857625" cy="822871"/>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The Purpose:</a:t>
            </a:r>
            <a:r>
              <a:rPr lang="en-US" sz="950" dirty="0">
                <a:solidFill>
                  <a:srgbClr val="000000"/>
                </a:solidFill>
                <a:latin typeface="Inter" pitchFamily="34" charset="0"/>
                <a:ea typeface="Inter" pitchFamily="34" charset="-122"/>
                <a:cs typeface="Inter" pitchFamily="34" charset="-120"/>
              </a:rPr>
              <a:t> We are using Model A to demonstrate the </a:t>
            </a:r>
            <a:r>
              <a:rPr lang="en-US" sz="950" dirty="0">
                <a:solidFill>
                  <a:srgbClr val="000000"/>
                </a:solidFill>
                <a:latin typeface="Inter" pitchFamily="34" charset="0"/>
                <a:ea typeface="Inter" pitchFamily="34" charset="-122"/>
                <a:cs typeface="Inter" pitchFamily="34" charset="-120"/>
              </a:rPr>
              <a:t>fundamentals. It sets the stage for our live demo, where we will </a:t>
            </a:r>
            <a:r>
              <a:rPr lang="en-US" sz="950" dirty="0">
                <a:solidFill>
                  <a:srgbClr val="000000"/>
                </a:solidFill>
                <a:latin typeface="Inter" pitchFamily="34" charset="0"/>
                <a:ea typeface="Inter" pitchFamily="34" charset="-122"/>
                <a:cs typeface="Inter" pitchFamily="34" charset="-120"/>
              </a:rPr>
              <a:t>see exactly how a simple brain handles complex visual </a:t>
            </a:r>
            <a:r>
              <a:rPr lang="en-US" sz="950" dirty="0">
                <a:solidFill>
                  <a:srgbClr val="000000"/>
                </a:solidFill>
                <a:latin typeface="Inter" pitchFamily="34" charset="0"/>
                <a:ea typeface="Inter" pitchFamily="34" charset="-122"/>
                <a:cs typeface="Inter" pitchFamily="34" charset="-120"/>
              </a:rPr>
              <a:t>information.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57200" y="1202271"/>
            <a:ext cx="8229600" cy="628650"/>
          </a:xfrm>
          <a:prstGeom prst="rect">
            <a:avLst/>
          </a:prstGeom>
          <a:noFill/>
          <a:ln/>
        </p:spPr>
        <p:txBody>
          <a:bodyPr wrap="none" lIns="0" tIns="0" rIns="0" bIns="0" rtlCol="0" anchor="t">
            <a:spAutoFit/>
          </a:bodyPr>
          <a:lstStyle/>
          <a:p>
            <a:pPr algn="ctr" indent="0" marL="0">
              <a:lnSpc>
                <a:spcPct val="88000"/>
              </a:lnSpc>
              <a:buNone/>
            </a:pPr>
            <a:r>
              <a:rPr lang="en-US" sz="4150" b="1" dirty="0">
                <a:solidFill>
                  <a:srgbClr val="990000"/>
                </a:solidFill>
                <a:latin typeface="Playfair Display Bold" pitchFamily="34" charset="0"/>
                <a:ea typeface="Playfair Display Bold" pitchFamily="34" charset="-122"/>
                <a:cs typeface="Playfair Display Bold" pitchFamily="34" charset="-120"/>
              </a:rPr>
              <a:t>Let’s Watch it Happen</a:t>
            </a:r>
            <a:endParaRPr lang="en-US" sz="4150" dirty="0"/>
          </a:p>
        </p:txBody>
      </p:sp>
      <p:sp>
        <p:nvSpPr>
          <p:cNvPr id="4" name="Text 1"/>
          <p:cNvSpPr/>
          <p:nvPr/>
        </p:nvSpPr>
        <p:spPr>
          <a:xfrm>
            <a:off x="3535263" y="2259546"/>
            <a:ext cx="2073473" cy="1351955"/>
          </a:xfrm>
          <a:prstGeom prst="rect">
            <a:avLst/>
          </a:prstGeom>
          <a:noFill/>
          <a:ln/>
        </p:spPr>
        <p:txBody>
          <a:bodyPr wrap="square" lIns="510286" tIns="340233" rIns="510286" bIns="340233" rtlCol="0" anchor="t">
            <a:spAutoFit/>
          </a:bodyPr>
          <a:lstStyle/>
          <a:p>
            <a:pPr algn="ctr" indent="0" marL="0">
              <a:buNone/>
            </a:pPr>
            <a:r>
              <a:rPr lang="en-US" sz="3300" b="1" dirty="0">
                <a:solidFill>
                  <a:srgbClr val="005F73"/>
                </a:solidFill>
                <a:latin typeface="Playfair Display Bold" pitchFamily="34" charset="0"/>
                <a:ea typeface="Playfair Display Bold" pitchFamily="34" charset="-122"/>
                <a:cs typeface="Playfair Display Bold" pitchFamily="34" charset="-120"/>
              </a:rPr>
              <a:t>LIVE</a:t>
            </a:r>
            <a:endParaRPr lang="en-US" sz="3300" dirty="0"/>
          </a:p>
        </p:txBody>
      </p:sp>
      <p:sp>
        <p:nvSpPr>
          <p:cNvPr id="5" name="Text 2"/>
          <p:cNvSpPr/>
          <p:nvPr/>
        </p:nvSpPr>
        <p:spPr>
          <a:xfrm>
            <a:off x="457200" y="4040125"/>
            <a:ext cx="8229600" cy="155377"/>
          </a:xfrm>
          <a:prstGeom prst="rect">
            <a:avLst/>
          </a:prstGeom>
          <a:noFill/>
          <a:ln/>
        </p:spPr>
        <p:txBody>
          <a:bodyPr wrap="square" lIns="0" tIns="0" rIns="0" bIns="0" rtlCol="0" anchor="t">
            <a:spAutoFit/>
          </a:bodyPr>
          <a:lstStyle/>
          <a:p>
            <a:pPr algn="ctr" indent="0" marL="0">
              <a:buNone/>
            </a:pPr>
            <a:r>
              <a:rPr lang="en-US" sz="900" b="1" spc="2" kern="0" dirty="0">
                <a:solidFill>
                  <a:srgbClr val="000000"/>
                </a:solidFill>
                <a:latin typeface="Inter Bold" pitchFamily="34" charset="0"/>
                <a:ea typeface="Inter Bold" pitchFamily="34" charset="-122"/>
                <a:cs typeface="Inter Bold" pitchFamily="34" charset="-120"/>
              </a:rPr>
              <a:t>[ SWITCH TO GRADIO APP ]</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What Just Happened?</a:t>
            </a:r>
            <a:endParaRPr lang="en-US" sz="3300" dirty="0"/>
          </a:p>
        </p:txBody>
      </p:sp>
      <p:sp>
        <p:nvSpPr>
          <p:cNvPr id="4" name="Text 1"/>
          <p:cNvSpPr/>
          <p:nvPr/>
        </p:nvSpPr>
        <p:spPr>
          <a:xfrm>
            <a:off x="571500" y="1795063"/>
            <a:ext cx="3714750"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990000"/>
                </a:solidFill>
                <a:latin typeface="Inter Bold" pitchFamily="34" charset="0"/>
                <a:ea typeface="Inter Bold" pitchFamily="34" charset="-122"/>
                <a:cs typeface="Inter Bold" pitchFamily="34" charset="-120"/>
              </a:rPr>
              <a:t>The Success:</a:t>
            </a:r>
            <a:r>
              <a:rPr lang="en-US" sz="950" dirty="0">
                <a:solidFill>
                  <a:srgbClr val="000000"/>
                </a:solidFill>
                <a:latin typeface="Inter" pitchFamily="34" charset="0"/>
                <a:ea typeface="Inter" pitchFamily="34" charset="-122"/>
                <a:cs typeface="Inter" pitchFamily="34" charset="-120"/>
              </a:rPr>
              <a:t> Model A was 100% confident and correct on </a:t>
            </a:r>
            <a:r>
              <a:rPr lang="en-US" sz="950" dirty="0">
                <a:solidFill>
                  <a:srgbClr val="000000"/>
                </a:solidFill>
                <a:latin typeface="Inter" pitchFamily="34" charset="0"/>
                <a:ea typeface="Inter" pitchFamily="34" charset="-122"/>
                <a:cs typeface="Inter" pitchFamily="34" charset="-120"/>
              </a:rPr>
              <a:t>objects it had seen many times during training. It memorized </a:t>
            </a:r>
            <a:r>
              <a:rPr lang="en-US" sz="950" dirty="0">
                <a:solidFill>
                  <a:srgbClr val="000000"/>
                </a:solidFill>
                <a:latin typeface="Inter" pitchFamily="34" charset="0"/>
                <a:ea typeface="Inter" pitchFamily="34" charset="-122"/>
                <a:cs typeface="Inter" pitchFamily="34" charset="-120"/>
              </a:rPr>
              <a:t>those patterns perfectly.</a:t>
            </a:r>
            <a:endParaRPr lang="en-US" sz="900" dirty="0"/>
          </a:p>
        </p:txBody>
      </p:sp>
      <p:sp>
        <p:nvSpPr>
          <p:cNvPr id="5" name="Text 2"/>
          <p:cNvSpPr/>
          <p:nvPr/>
        </p:nvSpPr>
        <p:spPr>
          <a:xfrm>
            <a:off x="571500" y="2555091"/>
            <a:ext cx="3714750" cy="617153"/>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990000"/>
                </a:solidFill>
                <a:latin typeface="Inter Bold" pitchFamily="34" charset="0"/>
                <a:ea typeface="Inter Bold" pitchFamily="34" charset="-122"/>
                <a:cs typeface="Inter Bold" pitchFamily="34" charset="-120"/>
              </a:rPr>
              <a:t>The Failure:</a:t>
            </a:r>
            <a:r>
              <a:rPr lang="en-US" sz="950" dirty="0">
                <a:solidFill>
                  <a:srgbClr val="000000"/>
                </a:solidFill>
                <a:latin typeface="Inter" pitchFamily="34" charset="0"/>
                <a:ea typeface="Inter" pitchFamily="34" charset="-122"/>
                <a:cs typeface="Inter" pitchFamily="34" charset="-120"/>
              </a:rPr>
              <a:t> When shown an "unseen" object, Model A was </a:t>
            </a:r>
            <a:r>
              <a:rPr lang="en-US" sz="950" dirty="0">
                <a:solidFill>
                  <a:srgbClr val="000000"/>
                </a:solidFill>
                <a:latin typeface="Inter" pitchFamily="34" charset="0"/>
                <a:ea typeface="Inter" pitchFamily="34" charset="-122"/>
                <a:cs typeface="Inter" pitchFamily="34" charset="-120"/>
              </a:rPr>
              <a:t>confidently wrong. It tried to force the new object into one of </a:t>
            </a:r>
            <a:r>
              <a:rPr lang="en-US" sz="950" dirty="0">
                <a:solidFill>
                  <a:srgbClr val="000000"/>
                </a:solidFill>
                <a:latin typeface="Inter" pitchFamily="34" charset="0"/>
                <a:ea typeface="Inter" pitchFamily="34" charset="-122"/>
                <a:cs typeface="Inter" pitchFamily="34" charset="-120"/>
              </a:rPr>
              <a:t>the three categories it knew.</a:t>
            </a:r>
            <a:endParaRPr lang="en-US" sz="900" dirty="0"/>
          </a:p>
        </p:txBody>
      </p:sp>
      <p:sp>
        <p:nvSpPr>
          <p:cNvPr id="6" name="Text 3"/>
          <p:cNvSpPr/>
          <p:nvPr/>
        </p:nvSpPr>
        <p:spPr>
          <a:xfrm>
            <a:off x="571500" y="3315119"/>
            <a:ext cx="3714750" cy="411435"/>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990000"/>
                </a:solidFill>
                <a:latin typeface="Inter Bold" pitchFamily="34" charset="0"/>
                <a:ea typeface="Inter Bold" pitchFamily="34" charset="-122"/>
                <a:cs typeface="Inter Bold" pitchFamily="34" charset="-120"/>
              </a:rPr>
              <a:t>The Solution:</a:t>
            </a:r>
            <a:r>
              <a:rPr lang="en-US" sz="950" dirty="0">
                <a:solidFill>
                  <a:srgbClr val="000000"/>
                </a:solidFill>
                <a:latin typeface="Inter" pitchFamily="34" charset="0"/>
                <a:ea typeface="Inter" pitchFamily="34" charset="-122"/>
                <a:cs typeface="Inter" pitchFamily="34" charset="-120"/>
              </a:rPr>
              <a:t> Model B identified the unseen object correctly. </a:t>
            </a:r>
            <a:r>
              <a:rPr lang="en-US" sz="950" dirty="0">
                <a:solidFill>
                  <a:srgbClr val="000000"/>
                </a:solidFill>
                <a:latin typeface="Inter" pitchFamily="34" charset="0"/>
                <a:ea typeface="Inter" pitchFamily="34" charset="-122"/>
                <a:cs typeface="Inter" pitchFamily="34" charset="-120"/>
              </a:rPr>
              <a:t>It didn't just memorize; it understood the broader context.</a:t>
            </a:r>
            <a:endParaRPr lang="en-US" sz="900" dirty="0"/>
          </a:p>
        </p:txBody>
      </p:sp>
      <p:sp>
        <p:nvSpPr>
          <p:cNvPr id="7" name="Text 4"/>
          <p:cNvSpPr/>
          <p:nvPr/>
        </p:nvSpPr>
        <p:spPr>
          <a:xfrm>
            <a:off x="5872163" y="1952225"/>
            <a:ext cx="1685925" cy="1685925"/>
          </a:xfrm>
          <a:prstGeom prst="rect">
            <a:avLst/>
          </a:prstGeom>
          <a:noFill/>
          <a:ln/>
        </p:spPr>
        <p:txBody>
          <a:bodyPr wrap="square" lIns="0" tIns="0" rIns="0" bIns="0" rtlCol="0" anchor="ctr">
            <a:spAutoFit/>
          </a:bodyPr>
          <a:lstStyle/>
          <a:p>
            <a:pPr algn="ctr" indent="0" marL="0">
              <a:lnSpc>
                <a:spcPct val="128000"/>
              </a:lnSpc>
              <a:buNone/>
            </a:pPr>
            <a:r>
              <a:rPr lang="en-US" sz="2450" b="1" dirty="0">
                <a:solidFill>
                  <a:srgbClr val="990000"/>
                </a:solidFill>
                <a:latin typeface="Playfair Display Bold" pitchFamily="34" charset="0"/>
                <a:ea typeface="Playfair Display Bold" pitchFamily="34" charset="-122"/>
                <a:cs typeface="Playfair Display Bold" pitchFamily="34" charset="-120"/>
              </a:rPr>
              <a:t>Aha!</a:t>
            </a:r>
            <a:endParaRPr lang="en-US" sz="2450" dirty="0"/>
          </a:p>
        </p:txBody>
      </p:sp>
      <p:sp>
        <p:nvSpPr>
          <p:cNvPr id="8" name="Text 5"/>
          <p:cNvSpPr/>
          <p:nvPr/>
        </p:nvSpPr>
        <p:spPr>
          <a:xfrm>
            <a:off x="5902523" y="3781025"/>
            <a:ext cx="1625203" cy="274309"/>
          </a:xfrm>
          <a:prstGeom prst="rect">
            <a:avLst/>
          </a:prstGeom>
          <a:noFill/>
          <a:ln/>
        </p:spPr>
        <p:txBody>
          <a:bodyPr wrap="none" lIns="0" tIns="0" rIns="0" bIns="0" rtlCol="0" anchor="t">
            <a:spAutoFit/>
          </a:bodyPr>
          <a:lstStyle/>
          <a:p>
            <a:pPr algn="ctr" indent="0" marL="0">
              <a:lnSpc>
                <a:spcPct val="128000"/>
              </a:lnSpc>
              <a:buNone/>
            </a:pPr>
            <a:r>
              <a:rPr lang="en-US" sz="1200" b="1" dirty="0">
                <a:solidFill>
                  <a:srgbClr val="005F73"/>
                </a:solidFill>
                <a:latin typeface="Inter Bold" pitchFamily="34" charset="0"/>
                <a:ea typeface="Inter Bold" pitchFamily="34" charset="-122"/>
                <a:cs typeface="Inter Bold" pitchFamily="34" charset="-120"/>
              </a:rPr>
              <a:t>The Bridge to Scale</a:t>
            </a:r>
            <a:endParaRPr lang="en-US" sz="1200" dirty="0"/>
          </a:p>
        </p:txBody>
      </p:sp>
      <p:sp>
        <p:nvSpPr>
          <p:cNvPr id="9" name="Text 6"/>
          <p:cNvSpPr/>
          <p:nvPr/>
        </p:nvSpPr>
        <p:spPr>
          <a:xfrm>
            <a:off x="4857750" y="4341084"/>
            <a:ext cx="3714750" cy="617153"/>
          </a:xfrm>
          <a:prstGeom prst="rect">
            <a:avLst/>
          </a:prstGeom>
          <a:noFill/>
          <a:ln/>
        </p:spPr>
        <p:txBody>
          <a:bodyPr wrap="square" lIns="0" tIns="0" rIns="0" bIns="0" rtlCol="0" anchor="t">
            <a:spAutoFit/>
          </a:bodyPr>
          <a:lstStyle/>
          <a:p>
            <a:pPr algn="l" indent="0" marL="0">
              <a:lnSpc>
                <a:spcPct val="128000"/>
              </a:lnSpc>
              <a:buNone/>
            </a:pPr>
            <a:r>
              <a:rPr lang="en-US" sz="950" dirty="0">
                <a:solidFill>
                  <a:srgbClr val="000000"/>
                </a:solidFill>
                <a:latin typeface="Inter" pitchFamily="34" charset="0"/>
                <a:ea typeface="Inter" pitchFamily="34" charset="-122"/>
                <a:cs typeface="Inter" pitchFamily="34" charset="-120"/>
              </a:rPr>
              <a:t>Why did one succeed where the other failed? It isn't because Model B is "smarter"—it's because Model B has seen more of the world.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The Massive Gap: Data and Compute</a:t>
            </a:r>
            <a:endParaRPr lang="en-US" sz="3300" dirty="0"/>
          </a:p>
        </p:txBody>
      </p:sp>
      <p:sp>
        <p:nvSpPr>
          <p:cNvPr id="4" name="Text 1"/>
          <p:cNvSpPr/>
          <p:nvPr/>
        </p:nvSpPr>
        <p:spPr>
          <a:xfrm>
            <a:off x="571500" y="1666475"/>
            <a:ext cx="2400300" cy="467916"/>
          </a:xfrm>
          <a:prstGeom prst="rect">
            <a:avLst/>
          </a:prstGeom>
          <a:noFill/>
          <a:ln/>
        </p:spPr>
        <p:txBody>
          <a:bodyPr wrap="square" lIns="8509" tIns="170053" rIns="8509" bIns="8509" rtlCol="0" anchor="ctr">
            <a:spAutoFit/>
          </a:bodyPr>
          <a:lstStyle/>
          <a:p>
            <a:pPr algn="l" indent="0" marL="0">
              <a:buNone/>
            </a:pPr>
            <a:r>
              <a:rPr lang="en-US" sz="1600" b="1" dirty="0">
                <a:solidFill>
                  <a:srgbClr val="005F73"/>
                </a:solidFill>
                <a:latin typeface="Playfair Display Bold" pitchFamily="34" charset="0"/>
                <a:ea typeface="Playfair Display Bold" pitchFamily="34" charset="-122"/>
                <a:cs typeface="Playfair Display Bold" pitchFamily="34" charset="-120"/>
              </a:rPr>
              <a:t>Feature</a:t>
            </a:r>
            <a:endParaRPr lang="en-US" sz="1600" dirty="0"/>
          </a:p>
        </p:txBody>
      </p:sp>
      <p:sp>
        <p:nvSpPr>
          <p:cNvPr id="5" name="Text 2"/>
          <p:cNvSpPr/>
          <p:nvPr/>
        </p:nvSpPr>
        <p:spPr>
          <a:xfrm>
            <a:off x="2971800" y="1666475"/>
            <a:ext cx="2800350" cy="467916"/>
          </a:xfrm>
          <a:prstGeom prst="rect">
            <a:avLst/>
          </a:prstGeom>
          <a:noFill/>
          <a:ln/>
        </p:spPr>
        <p:txBody>
          <a:bodyPr wrap="square" lIns="8509" tIns="170053" rIns="8509" bIns="8509" rtlCol="0" anchor="ctr">
            <a:spAutoFit/>
          </a:bodyPr>
          <a:lstStyle/>
          <a:p>
            <a:pPr algn="l" indent="0" marL="0">
              <a:buNone/>
            </a:pPr>
            <a:r>
              <a:rPr lang="en-US" sz="1600" b="1" dirty="0">
                <a:solidFill>
                  <a:srgbClr val="005F73"/>
                </a:solidFill>
                <a:latin typeface="Playfair Display Bold" pitchFamily="34" charset="0"/>
                <a:ea typeface="Playfair Display Bold" pitchFamily="34" charset="-122"/>
                <a:cs typeface="Playfair Display Bold" pitchFamily="34" charset="-120"/>
              </a:rPr>
              <a:t>Model A (Small)</a:t>
            </a:r>
            <a:endParaRPr lang="en-US" sz="1600" dirty="0"/>
          </a:p>
        </p:txBody>
      </p:sp>
      <p:sp>
        <p:nvSpPr>
          <p:cNvPr id="6" name="Text 3"/>
          <p:cNvSpPr/>
          <p:nvPr/>
        </p:nvSpPr>
        <p:spPr>
          <a:xfrm>
            <a:off x="5772150" y="1666475"/>
            <a:ext cx="2800350" cy="467916"/>
          </a:xfrm>
          <a:prstGeom prst="rect">
            <a:avLst/>
          </a:prstGeom>
          <a:noFill/>
          <a:ln/>
        </p:spPr>
        <p:txBody>
          <a:bodyPr wrap="square" lIns="8509" tIns="170053" rIns="8509" bIns="8509" rtlCol="0" anchor="ctr">
            <a:spAutoFit/>
          </a:bodyPr>
          <a:lstStyle/>
          <a:p>
            <a:pPr algn="l" indent="0" marL="0">
              <a:buNone/>
            </a:pPr>
            <a:r>
              <a:rPr lang="en-US" sz="1600" b="1" dirty="0">
                <a:solidFill>
                  <a:srgbClr val="990000"/>
                </a:solidFill>
                <a:latin typeface="Playfair Display Bold" pitchFamily="34" charset="0"/>
                <a:ea typeface="Playfair Display Bold" pitchFamily="34" charset="-122"/>
                <a:cs typeface="Playfair Display Bold" pitchFamily="34" charset="-120"/>
              </a:rPr>
              <a:t>Model B (Large)</a:t>
            </a:r>
            <a:endParaRPr lang="en-US" sz="1600" dirty="0"/>
          </a:p>
        </p:txBody>
      </p:sp>
      <p:sp>
        <p:nvSpPr>
          <p:cNvPr id="7" name="Text 4"/>
          <p:cNvSpPr/>
          <p:nvPr/>
        </p:nvSpPr>
        <p:spPr>
          <a:xfrm>
            <a:off x="571500" y="2134391"/>
            <a:ext cx="2400300" cy="621506"/>
          </a:xfrm>
          <a:prstGeom prst="rect">
            <a:avLst/>
          </a:prstGeom>
          <a:noFill/>
          <a:ln/>
        </p:spPr>
        <p:txBody>
          <a:bodyPr wrap="square" lIns="8509" tIns="212598" rIns="8509" bIns="8509" rtlCol="0" anchor="ctr">
            <a:spAutoFit/>
          </a:bodyPr>
          <a:lstStyle/>
          <a:p>
            <a:pPr algn="l" indent="0" marL="0">
              <a:buNone/>
            </a:pPr>
            <a:r>
              <a:rPr lang="en-US" sz="1100" b="1" dirty="0">
                <a:solidFill>
                  <a:srgbClr val="000000"/>
                </a:solidFill>
                <a:latin typeface="Inter Bold" pitchFamily="34" charset="0"/>
                <a:ea typeface="Inter Bold" pitchFamily="34" charset="-122"/>
                <a:cs typeface="Inter Bold" pitchFamily="34" charset="-120"/>
              </a:rPr>
              <a:t>Training Images</a:t>
            </a:r>
            <a:endParaRPr lang="en-US" sz="1100" dirty="0"/>
          </a:p>
        </p:txBody>
      </p:sp>
      <p:sp>
        <p:nvSpPr>
          <p:cNvPr id="8" name="Text 5"/>
          <p:cNvSpPr/>
          <p:nvPr/>
        </p:nvSpPr>
        <p:spPr>
          <a:xfrm>
            <a:off x="2971800" y="2134391"/>
            <a:ext cx="2800350" cy="621506"/>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~75</a:t>
            </a:r>
            <a:endParaRPr lang="en-US" sz="1150" dirty="0"/>
          </a:p>
        </p:txBody>
      </p:sp>
      <p:sp>
        <p:nvSpPr>
          <p:cNvPr id="9" name="Text 6"/>
          <p:cNvSpPr/>
          <p:nvPr/>
        </p:nvSpPr>
        <p:spPr>
          <a:xfrm>
            <a:off x="5707856" y="2327272"/>
            <a:ext cx="1301948" cy="417909"/>
          </a:xfrm>
          <a:prstGeom prst="rect">
            <a:avLst/>
          </a:prstGeom>
          <a:noFill/>
          <a:ln/>
        </p:spPr>
        <p:txBody>
          <a:bodyPr wrap="square" lIns="170053" tIns="85090" rIns="170053" bIns="85090" rtlCol="0" anchor="t">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~1.28 Million</a:t>
            </a:r>
            <a:endParaRPr lang="en-US" sz="1150" dirty="0"/>
          </a:p>
        </p:txBody>
      </p:sp>
      <p:sp>
        <p:nvSpPr>
          <p:cNvPr id="10" name="Text 7"/>
          <p:cNvSpPr/>
          <p:nvPr/>
        </p:nvSpPr>
        <p:spPr>
          <a:xfrm>
            <a:off x="571500" y="2755897"/>
            <a:ext cx="2400300" cy="382191"/>
          </a:xfrm>
          <a:prstGeom prst="rect">
            <a:avLst/>
          </a:prstGeom>
          <a:noFill/>
          <a:ln/>
        </p:spPr>
        <p:txBody>
          <a:bodyPr wrap="square" lIns="8509" tIns="212598" rIns="8509" bIns="8509" rtlCol="0" anchor="ctr">
            <a:spAutoFit/>
          </a:bodyPr>
          <a:lstStyle/>
          <a:p>
            <a:pPr algn="l" indent="0" marL="0">
              <a:buNone/>
            </a:pPr>
            <a:r>
              <a:rPr lang="en-US" sz="1100" b="1" dirty="0">
                <a:solidFill>
                  <a:srgbClr val="000000"/>
                </a:solidFill>
                <a:latin typeface="Inter Bold" pitchFamily="34" charset="0"/>
                <a:ea typeface="Inter Bold" pitchFamily="34" charset="-122"/>
                <a:cs typeface="Inter Bold" pitchFamily="34" charset="-120"/>
              </a:rPr>
              <a:t>Categories Known</a:t>
            </a:r>
            <a:endParaRPr lang="en-US" sz="1100" dirty="0"/>
          </a:p>
        </p:txBody>
      </p:sp>
      <p:sp>
        <p:nvSpPr>
          <p:cNvPr id="11" name="Text 8"/>
          <p:cNvSpPr/>
          <p:nvPr/>
        </p:nvSpPr>
        <p:spPr>
          <a:xfrm>
            <a:off x="2971800" y="2755897"/>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3</a:t>
            </a:r>
            <a:endParaRPr lang="en-US" sz="1150" dirty="0"/>
          </a:p>
        </p:txBody>
      </p:sp>
      <p:sp>
        <p:nvSpPr>
          <p:cNvPr id="12" name="Text 9"/>
          <p:cNvSpPr/>
          <p:nvPr/>
        </p:nvSpPr>
        <p:spPr>
          <a:xfrm>
            <a:off x="5772150" y="2755897"/>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1,000</a:t>
            </a:r>
            <a:endParaRPr lang="en-US" sz="1150" dirty="0"/>
          </a:p>
        </p:txBody>
      </p:sp>
      <p:sp>
        <p:nvSpPr>
          <p:cNvPr id="13" name="Text 10"/>
          <p:cNvSpPr/>
          <p:nvPr/>
        </p:nvSpPr>
        <p:spPr>
          <a:xfrm>
            <a:off x="571500" y="3138088"/>
            <a:ext cx="2400300" cy="382191"/>
          </a:xfrm>
          <a:prstGeom prst="rect">
            <a:avLst/>
          </a:prstGeom>
          <a:noFill/>
          <a:ln/>
        </p:spPr>
        <p:txBody>
          <a:bodyPr wrap="square" lIns="8509" tIns="212598" rIns="8509" bIns="8509" rtlCol="0" anchor="ctr">
            <a:spAutoFit/>
          </a:bodyPr>
          <a:lstStyle/>
          <a:p>
            <a:pPr algn="l" indent="0" marL="0">
              <a:buNone/>
            </a:pPr>
            <a:r>
              <a:rPr lang="en-US" sz="1100" b="1" dirty="0">
                <a:solidFill>
                  <a:srgbClr val="000000"/>
                </a:solidFill>
                <a:latin typeface="Inter Bold" pitchFamily="34" charset="0"/>
                <a:ea typeface="Inter Bold" pitchFamily="34" charset="-122"/>
                <a:cs typeface="Inter Bold" pitchFamily="34" charset="-120"/>
              </a:rPr>
              <a:t>Parameters</a:t>
            </a:r>
            <a:endParaRPr lang="en-US" sz="1100" dirty="0"/>
          </a:p>
        </p:txBody>
      </p:sp>
      <p:sp>
        <p:nvSpPr>
          <p:cNvPr id="14" name="Text 11"/>
          <p:cNvSpPr/>
          <p:nvPr/>
        </p:nvSpPr>
        <p:spPr>
          <a:xfrm>
            <a:off x="2971800" y="3138088"/>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~286,000</a:t>
            </a:r>
            <a:endParaRPr lang="en-US" sz="1150" dirty="0"/>
          </a:p>
        </p:txBody>
      </p:sp>
      <p:sp>
        <p:nvSpPr>
          <p:cNvPr id="15" name="Text 12"/>
          <p:cNvSpPr/>
          <p:nvPr/>
        </p:nvSpPr>
        <p:spPr>
          <a:xfrm>
            <a:off x="5772150" y="3138088"/>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~25 Million</a:t>
            </a:r>
            <a:endParaRPr lang="en-US" sz="1150" dirty="0"/>
          </a:p>
        </p:txBody>
      </p:sp>
      <p:sp>
        <p:nvSpPr>
          <p:cNvPr id="16" name="Text 13"/>
          <p:cNvSpPr/>
          <p:nvPr/>
        </p:nvSpPr>
        <p:spPr>
          <a:xfrm>
            <a:off x="571500" y="3520278"/>
            <a:ext cx="2400300" cy="382191"/>
          </a:xfrm>
          <a:prstGeom prst="rect">
            <a:avLst/>
          </a:prstGeom>
          <a:noFill/>
          <a:ln/>
        </p:spPr>
        <p:txBody>
          <a:bodyPr wrap="square" lIns="8509" tIns="212598" rIns="8509" bIns="8509" rtlCol="0" anchor="ctr">
            <a:spAutoFit/>
          </a:bodyPr>
          <a:lstStyle/>
          <a:p>
            <a:pPr algn="l" indent="0" marL="0">
              <a:buNone/>
            </a:pPr>
            <a:r>
              <a:rPr lang="en-US" sz="1100" b="1" dirty="0">
                <a:solidFill>
                  <a:srgbClr val="000000"/>
                </a:solidFill>
                <a:latin typeface="Inter Bold" pitchFamily="34" charset="0"/>
                <a:ea typeface="Inter Bold" pitchFamily="34" charset="-122"/>
                <a:cs typeface="Inter Bold" pitchFamily="34" charset="-120"/>
              </a:rPr>
              <a:t>Training Time</a:t>
            </a:r>
            <a:endParaRPr lang="en-US" sz="1100" dirty="0"/>
          </a:p>
        </p:txBody>
      </p:sp>
      <p:sp>
        <p:nvSpPr>
          <p:cNvPr id="17" name="Text 14"/>
          <p:cNvSpPr/>
          <p:nvPr/>
        </p:nvSpPr>
        <p:spPr>
          <a:xfrm>
            <a:off x="2971800" y="3520278"/>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Seconds (Laptop)</a:t>
            </a:r>
            <a:endParaRPr lang="en-US" sz="1150" dirty="0"/>
          </a:p>
        </p:txBody>
      </p:sp>
      <p:sp>
        <p:nvSpPr>
          <p:cNvPr id="18" name="Text 15"/>
          <p:cNvSpPr/>
          <p:nvPr/>
        </p:nvSpPr>
        <p:spPr>
          <a:xfrm>
            <a:off x="5772150" y="3520278"/>
            <a:ext cx="2800350" cy="382191"/>
          </a:xfrm>
          <a:prstGeom prst="rect">
            <a:avLst/>
          </a:prstGeom>
          <a:noFill/>
          <a:ln/>
        </p:spPr>
        <p:txBody>
          <a:bodyPr wrap="square" lIns="8509" tIns="212598" rIns="8509" bIns="8509" rtlCol="0" anchor="ctr">
            <a:spAutoFit/>
          </a:bodyPr>
          <a:lstStyle/>
          <a:p>
            <a:pPr algn="l" indent="0" marL="0">
              <a:buNone/>
            </a:pPr>
            <a:r>
              <a:rPr lang="en-US" sz="1150" dirty="0">
                <a:solidFill>
                  <a:srgbClr val="000000"/>
                </a:solidFill>
                <a:latin typeface="Inter" pitchFamily="34" charset="0"/>
                <a:ea typeface="Inter" pitchFamily="34" charset="-122"/>
                <a:cs typeface="Inter" pitchFamily="34" charset="-120"/>
              </a:rPr>
              <a:t>Days/Weeks (GPU Clusters)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Scale is the Secret Sauce</a:t>
            </a:r>
            <a:endParaRPr lang="en-US" sz="3300" dirty="0"/>
          </a:p>
        </p:txBody>
      </p:sp>
      <p:sp>
        <p:nvSpPr>
          <p:cNvPr id="4" name="Text 1"/>
          <p:cNvSpPr/>
          <p:nvPr/>
        </p:nvSpPr>
        <p:spPr>
          <a:xfrm>
            <a:off x="571500" y="1795063"/>
            <a:ext cx="3714750" cy="822871"/>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It’s Not Magic:</a:t>
            </a:r>
            <a:r>
              <a:rPr lang="en-US" sz="950" dirty="0">
                <a:solidFill>
                  <a:srgbClr val="000000"/>
                </a:solidFill>
                <a:latin typeface="Inter" pitchFamily="34" charset="0"/>
                <a:ea typeface="Inter" pitchFamily="34" charset="-122"/>
                <a:cs typeface="Inter" pitchFamily="34" charset="-120"/>
              </a:rPr>
              <a:t> High-performing AI isn't "smarter" in a </a:t>
            </a:r>
            <a:r>
              <a:rPr lang="en-US" sz="950" dirty="0">
                <a:solidFill>
                  <a:srgbClr val="000000"/>
                </a:solidFill>
                <a:latin typeface="Inter" pitchFamily="34" charset="0"/>
                <a:ea typeface="Inter" pitchFamily="34" charset="-122"/>
                <a:cs typeface="Inter" pitchFamily="34" charset="-120"/>
              </a:rPr>
              <a:t>human sense; it just has more experience. When we talk </a:t>
            </a:r>
            <a:r>
              <a:rPr lang="en-US" sz="950" dirty="0">
                <a:solidFill>
                  <a:srgbClr val="000000"/>
                </a:solidFill>
                <a:latin typeface="Inter" pitchFamily="34" charset="0"/>
                <a:ea typeface="Inter" pitchFamily="34" charset="-122"/>
                <a:cs typeface="Inter" pitchFamily="34" charset="-120"/>
              </a:rPr>
              <a:t>about powerful models, we are talking about the power of </a:t>
            </a:r>
            <a:r>
              <a:rPr lang="en-US" sz="900" b="1" dirty="0">
                <a:solidFill>
                  <a:srgbClr val="005F73"/>
                </a:solidFill>
                <a:latin typeface="Inter Bold" pitchFamily="34" charset="0"/>
                <a:ea typeface="Inter Bold" pitchFamily="34" charset="-122"/>
                <a:cs typeface="Inter Bold" pitchFamily="34" charset="-120"/>
              </a:rPr>
              <a:t>Scale</a:t>
            </a:r>
            <a:r>
              <a:rPr lang="en-US" sz="950" dirty="0">
                <a:solidFill>
                  <a:srgbClr val="000000"/>
                </a:solidFill>
                <a:latin typeface="Inter" pitchFamily="34" charset="0"/>
                <a:ea typeface="Inter" pitchFamily="34" charset="-122"/>
                <a:cs typeface="Inter" pitchFamily="34" charset="-120"/>
              </a:rPr>
              <a:t>.</a:t>
            </a:r>
            <a:endParaRPr lang="en-US" sz="900" dirty="0"/>
          </a:p>
        </p:txBody>
      </p:sp>
      <p:sp>
        <p:nvSpPr>
          <p:cNvPr id="5" name="Text 2"/>
          <p:cNvSpPr/>
          <p:nvPr/>
        </p:nvSpPr>
        <p:spPr>
          <a:xfrm>
            <a:off x="571500" y="2760808"/>
            <a:ext cx="3714750" cy="822871"/>
          </a:xfrm>
          <a:prstGeom prst="rect">
            <a:avLst/>
          </a:prstGeom>
          <a:noFill/>
          <a:ln/>
        </p:spPr>
        <p:txBody>
          <a:bodyPr wrap="square" lIns="0" tIns="0" rIns="0" bIns="0" rtlCol="0" anchor="t">
            <a:spAutoFit/>
          </a:bodyPr>
          <a:lstStyle/>
          <a:p>
            <a:pPr algn="l" indent="0" marL="0">
              <a:lnSpc>
                <a:spcPct val="128000"/>
              </a:lnSpc>
              <a:buNone/>
            </a:pPr>
            <a:r>
              <a:rPr lang="en-US" sz="900" b="1" dirty="0">
                <a:solidFill>
                  <a:srgbClr val="005F73"/>
                </a:solidFill>
                <a:latin typeface="Inter Bold" pitchFamily="34" charset="0"/>
                <a:ea typeface="Inter Bold" pitchFamily="34" charset="-122"/>
                <a:cs typeface="Inter Bold" pitchFamily="34" charset="-120"/>
              </a:rPr>
              <a:t>Generalization:</a:t>
            </a:r>
            <a:r>
              <a:rPr lang="en-US" sz="950" dirty="0">
                <a:solidFill>
                  <a:srgbClr val="000000"/>
                </a:solidFill>
                <a:latin typeface="Inter" pitchFamily="34" charset="0"/>
                <a:ea typeface="Inter" pitchFamily="34" charset="-122"/>
                <a:cs typeface="Inter" pitchFamily="34" charset="-120"/>
              </a:rPr>
              <a:t> More examples allow the computer to </a:t>
            </a:r>
            <a:r>
              <a:rPr lang="en-US" sz="950" dirty="0">
                <a:solidFill>
                  <a:srgbClr val="000000"/>
                </a:solidFill>
                <a:latin typeface="Inter" pitchFamily="34" charset="0"/>
                <a:ea typeface="Inter" pitchFamily="34" charset="-122"/>
                <a:cs typeface="Inter" pitchFamily="34" charset="-120"/>
              </a:rPr>
              <a:t>understand the </a:t>
            </a:r>
            <a:r>
              <a:rPr lang="en-US" sz="950" i="1" dirty="0">
                <a:solidFill>
                  <a:srgbClr val="000000"/>
                </a:solidFill>
                <a:latin typeface="Inter" pitchFamily="34" charset="0"/>
                <a:ea typeface="Inter" pitchFamily="34" charset="-122"/>
                <a:cs typeface="Inter" pitchFamily="34" charset="-120"/>
              </a:rPr>
              <a:t>essence</a:t>
            </a:r>
            <a:r>
              <a:rPr lang="en-US" sz="950" dirty="0">
                <a:solidFill>
                  <a:srgbClr val="000000"/>
                </a:solidFill>
                <a:latin typeface="Inter" pitchFamily="34" charset="0"/>
                <a:ea typeface="Inter" pitchFamily="34" charset="-122"/>
                <a:cs typeface="Inter" pitchFamily="34" charset="-120"/>
              </a:rPr>
              <a:t> of an object—the core features that </a:t>
            </a:r>
            <a:r>
              <a:rPr lang="en-US" sz="950" dirty="0">
                <a:solidFill>
                  <a:srgbClr val="000000"/>
                </a:solidFill>
                <a:latin typeface="Inter" pitchFamily="34" charset="0"/>
                <a:ea typeface="Inter" pitchFamily="34" charset="-122"/>
                <a:cs typeface="Inter" pitchFamily="34" charset="-120"/>
              </a:rPr>
              <a:t>make a chair a chair—rather than just memorizing one </a:t>
            </a:r>
            <a:r>
              <a:rPr lang="en-US" sz="950" dirty="0">
                <a:solidFill>
                  <a:srgbClr val="000000"/>
                </a:solidFill>
                <a:latin typeface="Inter" pitchFamily="34" charset="0"/>
                <a:ea typeface="Inter" pitchFamily="34" charset="-122"/>
                <a:cs typeface="Inter" pitchFamily="34" charset="-120"/>
              </a:rPr>
              <a:t>specific photo.</a:t>
            </a:r>
            <a:endParaRPr lang="en-US" sz="900" dirty="0"/>
          </a:p>
        </p:txBody>
      </p:sp>
      <p:sp>
        <p:nvSpPr>
          <p:cNvPr id="6" name="Text 3"/>
          <p:cNvSpPr/>
          <p:nvPr/>
        </p:nvSpPr>
        <p:spPr>
          <a:xfrm>
            <a:off x="571500" y="3869429"/>
            <a:ext cx="3714750" cy="617153"/>
          </a:xfrm>
          <a:prstGeom prst="rect">
            <a:avLst/>
          </a:prstGeom>
          <a:noFill/>
          <a:ln/>
        </p:spPr>
        <p:txBody>
          <a:bodyPr wrap="square" lIns="170053" tIns="0" rIns="0" bIns="0" rtlCol="0" anchor="t">
            <a:spAutoFit/>
          </a:bodyPr>
          <a:lstStyle/>
          <a:p>
            <a:pPr algn="l" indent="0" marL="0">
              <a:lnSpc>
                <a:spcPct val="128000"/>
              </a:lnSpc>
              <a:buNone/>
            </a:pPr>
            <a:r>
              <a:rPr lang="en-US" sz="950" i="1" dirty="0">
                <a:solidFill>
                  <a:srgbClr val="000000"/>
                </a:solidFill>
                <a:latin typeface="Inter" pitchFamily="34" charset="0"/>
                <a:ea typeface="Inter" pitchFamily="34" charset="-122"/>
                <a:cs typeface="Inter" pitchFamily="34" charset="-120"/>
              </a:rPr>
              <a:t>"This exact idea—small samples vs. large-scale data—is why my own research project needed thousands of real records, not a handful."</a:t>
            </a:r>
            <a:endParaRPr lang="en-US" sz="950" dirty="0"/>
          </a:p>
        </p:txBody>
      </p:sp>
      <p:sp>
        <p:nvSpPr>
          <p:cNvPr id="7" name="Text 4"/>
          <p:cNvSpPr/>
          <p:nvPr/>
        </p:nvSpPr>
        <p:spPr>
          <a:xfrm>
            <a:off x="5715000" y="1809350"/>
            <a:ext cx="2000250" cy="2000250"/>
          </a:xfrm>
          <a:prstGeom prst="rect">
            <a:avLst/>
          </a:prstGeom>
          <a:noFill/>
          <a:ln/>
        </p:spPr>
        <p:txBody>
          <a:bodyPr wrap="square" lIns="170053" tIns="170053" rIns="170053" bIns="170053" rtlCol="0" anchor="ctr">
            <a:spAutoFit/>
          </a:bodyPr>
          <a:lstStyle/>
          <a:p>
            <a:pPr algn="ctr" indent="0" marL="0">
              <a:lnSpc>
                <a:spcPct val="128000"/>
              </a:lnSpc>
              <a:buNone/>
            </a:pPr>
            <a:r>
              <a:rPr lang="en-US" sz="1600" b="1" dirty="0">
                <a:solidFill>
                  <a:srgbClr val="005F73"/>
                </a:solidFill>
                <a:latin typeface="Playfair Display Bold" pitchFamily="34" charset="0"/>
                <a:ea typeface="Playfair Display Bold" pitchFamily="34" charset="-122"/>
                <a:cs typeface="Playfair Display Bold" pitchFamily="34" charset="-120"/>
              </a:rPr>
              <a:t>GENERALIZATION</a:t>
            </a:r>
            <a:endParaRPr lang="en-US" sz="1600" dirty="0"/>
          </a:p>
        </p:txBody>
      </p:sp>
      <p:sp>
        <p:nvSpPr>
          <p:cNvPr id="8" name="Text 5"/>
          <p:cNvSpPr/>
          <p:nvPr/>
        </p:nvSpPr>
        <p:spPr>
          <a:xfrm>
            <a:off x="5468541" y="4023913"/>
            <a:ext cx="2493169" cy="274309"/>
          </a:xfrm>
          <a:prstGeom prst="rect">
            <a:avLst/>
          </a:prstGeom>
          <a:noFill/>
          <a:ln/>
        </p:spPr>
        <p:txBody>
          <a:bodyPr wrap="none" lIns="0" tIns="0" rIns="0" bIns="0" rtlCol="0" anchor="t">
            <a:spAutoFit/>
          </a:bodyPr>
          <a:lstStyle/>
          <a:p>
            <a:pPr algn="ctr" indent="0" marL="0">
              <a:lnSpc>
                <a:spcPct val="128000"/>
              </a:lnSpc>
              <a:buNone/>
            </a:pPr>
            <a:r>
              <a:rPr lang="en-US" sz="1200" b="1" dirty="0">
                <a:solidFill>
                  <a:srgbClr val="990000"/>
                </a:solidFill>
                <a:latin typeface="Inter Bold" pitchFamily="34" charset="0"/>
                <a:ea typeface="Inter Bold" pitchFamily="34" charset="-122"/>
                <a:cs typeface="Inter Bold" pitchFamily="34" charset="-120"/>
              </a:rPr>
              <a:t>More Examples = Better Logic</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734941"/>
            <a:ext cx="8572500" cy="502909"/>
          </a:xfrm>
          <a:prstGeom prst="rect">
            <a:avLst/>
          </a:prstGeom>
          <a:noFill/>
          <a:ln/>
        </p:spPr>
        <p:txBody>
          <a:bodyPr wrap="none" lIns="0" tIns="0" rIns="0" bIns="0" rtlCol="0" anchor="t">
            <a:spAutoFit/>
          </a:bodyPr>
          <a:lstStyle/>
          <a:p>
            <a:pPr algn="l" indent="0" marL="0">
              <a:lnSpc>
                <a:spcPct val="88000"/>
              </a:lnSpc>
              <a:buNone/>
            </a:pPr>
            <a:r>
              <a:rPr lang="en-US" sz="3300" b="1" dirty="0">
                <a:solidFill>
                  <a:srgbClr val="990000"/>
                </a:solidFill>
                <a:latin typeface="Playfair Display Bold" pitchFamily="34" charset="0"/>
                <a:ea typeface="Playfair Display Bold" pitchFamily="34" charset="-122"/>
                <a:cs typeface="Playfair Display Bold" pitchFamily="34" charset="-120"/>
              </a:rPr>
              <a:t>Connecting the Three Pillars</a:t>
            </a:r>
            <a:endParaRPr lang="en-US" sz="3300" dirty="0"/>
          </a:p>
        </p:txBody>
      </p:sp>
      <p:sp>
        <p:nvSpPr>
          <p:cNvPr id="4" name="Text 1"/>
          <p:cNvSpPr/>
          <p:nvPr/>
        </p:nvSpPr>
        <p:spPr>
          <a:xfrm>
            <a:off x="1537385" y="2252263"/>
            <a:ext cx="544711"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SPACE</a:t>
            </a:r>
            <a:endParaRPr lang="en-US" sz="1200" dirty="0"/>
          </a:p>
        </p:txBody>
      </p:sp>
      <p:sp>
        <p:nvSpPr>
          <p:cNvPr id="5" name="Text 2"/>
          <p:cNvSpPr/>
          <p:nvPr/>
        </p:nvSpPr>
        <p:spPr>
          <a:xfrm>
            <a:off x="1296284" y="3138088"/>
            <a:ext cx="1026914" cy="266105"/>
          </a:xfrm>
          <a:prstGeom prst="rect">
            <a:avLst/>
          </a:prstGeom>
          <a:noFill/>
          <a:ln/>
        </p:spPr>
        <p:txBody>
          <a:bodyPr wrap="none" lIns="0" tIns="0" rIns="0" bIns="0" rtlCol="0" anchor="t">
            <a:spAutoFit/>
          </a:bodyPr>
          <a:lstStyle/>
          <a:p>
            <a:pPr algn="ctr" indent="0" marL="0">
              <a:buNone/>
            </a:pPr>
            <a:r>
              <a:rPr lang="en-US" sz="1400" b="1" dirty="0">
                <a:solidFill>
                  <a:srgbClr val="005F73"/>
                </a:solidFill>
                <a:latin typeface="Playfair Display Bold" pitchFamily="34" charset="0"/>
                <a:ea typeface="Playfair Display Bold" pitchFamily="34" charset="-122"/>
                <a:cs typeface="Playfair Display Bold" pitchFamily="34" charset="-120"/>
              </a:rPr>
              <a:t>Space Tech</a:t>
            </a:r>
            <a:endParaRPr lang="en-US" sz="1400" dirty="0"/>
          </a:p>
        </p:txBody>
      </p:sp>
      <p:sp>
        <p:nvSpPr>
          <p:cNvPr id="6" name="Text 3"/>
          <p:cNvSpPr/>
          <p:nvPr/>
        </p:nvSpPr>
        <p:spPr>
          <a:xfrm>
            <a:off x="571500" y="3511348"/>
            <a:ext cx="2476481" cy="548590"/>
          </a:xfrm>
          <a:prstGeom prst="rect">
            <a:avLst/>
          </a:prstGeom>
          <a:noFill/>
          <a:ln/>
        </p:spPr>
        <p:txBody>
          <a:bodyPr wrap="square" lIns="0" tIns="0" rIns="0" bIns="0" rtlCol="0" anchor="t">
            <a:spAutoFit/>
          </a:bodyPr>
          <a:lstStyle/>
          <a:p>
            <a:pPr algn="ctr" indent="0" marL="0">
              <a:lnSpc>
                <a:spcPct val="128000"/>
              </a:lnSpc>
              <a:buNone/>
            </a:pPr>
            <a:r>
              <a:rPr lang="en-US" sz="850" dirty="0">
                <a:solidFill>
                  <a:srgbClr val="000000"/>
                </a:solidFill>
                <a:latin typeface="Inter" pitchFamily="34" charset="0"/>
                <a:ea typeface="Inter" pitchFamily="34" charset="-122"/>
                <a:cs typeface="Inter" pitchFamily="34" charset="-120"/>
              </a:rPr>
              <a:t>The ultimate source of </a:t>
            </a:r>
            <a:r>
              <a:rPr lang="en-US" sz="800" b="1" dirty="0">
                <a:solidFill>
                  <a:srgbClr val="990000"/>
                </a:solidFill>
                <a:latin typeface="Inter Bold" pitchFamily="34" charset="0"/>
                <a:ea typeface="Inter Bold" pitchFamily="34" charset="-122"/>
                <a:cs typeface="Inter Bold" pitchFamily="34" charset="-120"/>
              </a:rPr>
              <a:t>Big Data</a:t>
            </a:r>
            <a:r>
              <a:rPr lang="en-US" sz="850" dirty="0">
                <a:solidFill>
                  <a:srgbClr val="000000"/>
                </a:solidFill>
                <a:latin typeface="Inter" pitchFamily="34" charset="0"/>
                <a:ea typeface="Inter" pitchFamily="34" charset="-122"/>
                <a:cs typeface="Inter" pitchFamily="34" charset="-120"/>
              </a:rPr>
              <a:t>. Satellites </a:t>
            </a:r>
            <a:r>
              <a:rPr lang="en-US" sz="850" dirty="0">
                <a:solidFill>
                  <a:srgbClr val="000000"/>
                </a:solidFill>
                <a:latin typeface="Inter" pitchFamily="34" charset="0"/>
                <a:ea typeface="Inter" pitchFamily="34" charset="-122"/>
                <a:cs typeface="Inter" pitchFamily="34" charset="-120"/>
              </a:rPr>
              <a:t>and sensors capture the world in ways </a:t>
            </a:r>
            <a:r>
              <a:rPr lang="en-US" sz="850" dirty="0">
                <a:solidFill>
                  <a:srgbClr val="000000"/>
                </a:solidFill>
                <a:latin typeface="Inter" pitchFamily="34" charset="0"/>
                <a:ea typeface="Inter" pitchFamily="34" charset="-122"/>
                <a:cs typeface="Inter" pitchFamily="34" charset="-120"/>
              </a:rPr>
              <a:t>humans never could.</a:t>
            </a:r>
            <a:endParaRPr lang="en-US" sz="850" dirty="0"/>
          </a:p>
        </p:txBody>
      </p:sp>
      <p:sp>
        <p:nvSpPr>
          <p:cNvPr id="7" name="Text 4"/>
          <p:cNvSpPr/>
          <p:nvPr/>
        </p:nvSpPr>
        <p:spPr>
          <a:xfrm>
            <a:off x="4484461" y="2252263"/>
            <a:ext cx="175022"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AI</a:t>
            </a:r>
            <a:endParaRPr lang="en-US" sz="1200" dirty="0"/>
          </a:p>
        </p:txBody>
      </p:sp>
      <p:sp>
        <p:nvSpPr>
          <p:cNvPr id="8" name="Text 5"/>
          <p:cNvSpPr/>
          <p:nvPr/>
        </p:nvSpPr>
        <p:spPr>
          <a:xfrm>
            <a:off x="3595957" y="3138088"/>
            <a:ext cx="1952030" cy="266105"/>
          </a:xfrm>
          <a:prstGeom prst="rect">
            <a:avLst/>
          </a:prstGeom>
          <a:noFill/>
          <a:ln/>
        </p:spPr>
        <p:txBody>
          <a:bodyPr wrap="square" lIns="0" tIns="0" rIns="0" bIns="0" rtlCol="0" anchor="t">
            <a:spAutoFit/>
          </a:bodyPr>
          <a:lstStyle/>
          <a:p>
            <a:pPr algn="ctr" indent="0" marL="0">
              <a:buNone/>
            </a:pPr>
            <a:r>
              <a:rPr lang="en-US" sz="1400" b="1" dirty="0">
                <a:solidFill>
                  <a:srgbClr val="005F73"/>
                </a:solidFill>
                <a:latin typeface="Playfair Display Bold" pitchFamily="34" charset="0"/>
                <a:ea typeface="Playfair Display Bold" pitchFamily="34" charset="-122"/>
                <a:cs typeface="Playfair Display Bold" pitchFamily="34" charset="-120"/>
              </a:rPr>
              <a:t>Artificial Intelligence</a:t>
            </a:r>
            <a:endParaRPr lang="en-US" sz="1400" dirty="0"/>
          </a:p>
        </p:txBody>
      </p:sp>
      <p:sp>
        <p:nvSpPr>
          <p:cNvPr id="9" name="Text 6"/>
          <p:cNvSpPr/>
          <p:nvPr/>
        </p:nvSpPr>
        <p:spPr>
          <a:xfrm>
            <a:off x="3333731" y="3511348"/>
            <a:ext cx="2476509" cy="365727"/>
          </a:xfrm>
          <a:prstGeom prst="rect">
            <a:avLst/>
          </a:prstGeom>
          <a:noFill/>
          <a:ln/>
        </p:spPr>
        <p:txBody>
          <a:bodyPr wrap="square" lIns="0" tIns="0" rIns="0" bIns="0" rtlCol="0" anchor="t">
            <a:spAutoFit/>
          </a:bodyPr>
          <a:lstStyle/>
          <a:p>
            <a:pPr algn="ctr" indent="0" marL="0">
              <a:lnSpc>
                <a:spcPct val="128000"/>
              </a:lnSpc>
              <a:buNone/>
            </a:pPr>
            <a:r>
              <a:rPr lang="en-US" sz="850" dirty="0">
                <a:solidFill>
                  <a:srgbClr val="000000"/>
                </a:solidFill>
                <a:latin typeface="Inter" pitchFamily="34" charset="0"/>
                <a:ea typeface="Inter" pitchFamily="34" charset="-122"/>
                <a:cs typeface="Inter" pitchFamily="34" charset="-120"/>
              </a:rPr>
              <a:t>The </a:t>
            </a:r>
            <a:r>
              <a:rPr lang="en-US" sz="800" b="1" dirty="0">
                <a:solidFill>
                  <a:srgbClr val="990000"/>
                </a:solidFill>
                <a:latin typeface="Inter Bold" pitchFamily="34" charset="0"/>
                <a:ea typeface="Inter Bold" pitchFamily="34" charset="-122"/>
                <a:cs typeface="Inter Bold" pitchFamily="34" charset="-120"/>
              </a:rPr>
              <a:t>Engine</a:t>
            </a:r>
            <a:r>
              <a:rPr lang="en-US" sz="850" dirty="0">
                <a:solidFill>
                  <a:srgbClr val="000000"/>
                </a:solidFill>
                <a:latin typeface="Inter" pitchFamily="34" charset="0"/>
                <a:ea typeface="Inter" pitchFamily="34" charset="-122"/>
                <a:cs typeface="Inter" pitchFamily="34" charset="-120"/>
              </a:rPr>
              <a:t> that processes that data, finding </a:t>
            </a:r>
            <a:r>
              <a:rPr lang="en-US" sz="850" dirty="0">
                <a:solidFill>
                  <a:srgbClr val="000000"/>
                </a:solidFill>
                <a:latin typeface="Inter" pitchFamily="34" charset="0"/>
                <a:ea typeface="Inter" pitchFamily="34" charset="-122"/>
                <a:cs typeface="Inter" pitchFamily="34" charset="-120"/>
              </a:rPr>
              <a:t>patterns and insights hidden in the noise.</a:t>
            </a:r>
            <a:endParaRPr lang="en-US" sz="850" dirty="0"/>
          </a:p>
        </p:txBody>
      </p:sp>
      <p:sp>
        <p:nvSpPr>
          <p:cNvPr id="10" name="Text 7"/>
          <p:cNvSpPr/>
          <p:nvPr/>
        </p:nvSpPr>
        <p:spPr>
          <a:xfrm>
            <a:off x="6975258" y="2252263"/>
            <a:ext cx="717947" cy="228600"/>
          </a:xfrm>
          <a:prstGeom prst="rect">
            <a:avLst/>
          </a:prstGeom>
          <a:noFill/>
          <a:ln/>
        </p:spPr>
        <p:txBody>
          <a:bodyPr wrap="none" lIns="0" tIns="0" rIns="0" bIns="0" rtlCol="0" anchor="t">
            <a:spAutoFit/>
          </a:bodyPr>
          <a:lstStyle/>
          <a:p>
            <a:pPr algn="ctr" indent="0" marL="0">
              <a:buNone/>
            </a:pPr>
            <a:r>
              <a:rPr lang="en-US" sz="1200" b="1" dirty="0">
                <a:solidFill>
                  <a:srgbClr val="990000"/>
                </a:solidFill>
                <a:latin typeface="Playfair Display Bold" pitchFamily="34" charset="0"/>
                <a:ea typeface="Playfair Display Bold" pitchFamily="34" charset="-122"/>
                <a:cs typeface="Playfair Display Bold" pitchFamily="34" charset="-120"/>
              </a:rPr>
              <a:t>ROBOTS</a:t>
            </a:r>
            <a:endParaRPr lang="en-US" sz="1200" dirty="0"/>
          </a:p>
        </p:txBody>
      </p:sp>
      <p:sp>
        <p:nvSpPr>
          <p:cNvPr id="11" name="Text 8"/>
          <p:cNvSpPr/>
          <p:nvPr/>
        </p:nvSpPr>
        <p:spPr>
          <a:xfrm>
            <a:off x="6930610" y="3138088"/>
            <a:ext cx="807244" cy="266105"/>
          </a:xfrm>
          <a:prstGeom prst="rect">
            <a:avLst/>
          </a:prstGeom>
          <a:noFill/>
          <a:ln/>
        </p:spPr>
        <p:txBody>
          <a:bodyPr wrap="none" lIns="0" tIns="0" rIns="0" bIns="0" rtlCol="0" anchor="t">
            <a:spAutoFit/>
          </a:bodyPr>
          <a:lstStyle/>
          <a:p>
            <a:pPr algn="ctr" indent="0" marL="0">
              <a:buNone/>
            </a:pPr>
            <a:r>
              <a:rPr lang="en-US" sz="1400" b="1" dirty="0">
                <a:solidFill>
                  <a:srgbClr val="005F73"/>
                </a:solidFill>
                <a:latin typeface="Playfair Display Bold" pitchFamily="34" charset="0"/>
                <a:ea typeface="Playfair Display Bold" pitchFamily="34" charset="-122"/>
                <a:cs typeface="Playfair Display Bold" pitchFamily="34" charset="-120"/>
              </a:rPr>
              <a:t>Robotics</a:t>
            </a:r>
            <a:endParaRPr lang="en-US" sz="1400" dirty="0"/>
          </a:p>
        </p:txBody>
      </p:sp>
      <p:sp>
        <p:nvSpPr>
          <p:cNvPr id="12" name="Text 9"/>
          <p:cNvSpPr/>
          <p:nvPr/>
        </p:nvSpPr>
        <p:spPr>
          <a:xfrm>
            <a:off x="6095991" y="3511348"/>
            <a:ext cx="2476481" cy="548590"/>
          </a:xfrm>
          <a:prstGeom prst="rect">
            <a:avLst/>
          </a:prstGeom>
          <a:noFill/>
          <a:ln/>
        </p:spPr>
        <p:txBody>
          <a:bodyPr wrap="square" lIns="0" tIns="0" rIns="0" bIns="0" rtlCol="0" anchor="t">
            <a:spAutoFit/>
          </a:bodyPr>
          <a:lstStyle/>
          <a:p>
            <a:pPr algn="ctr" indent="0" marL="0">
              <a:lnSpc>
                <a:spcPct val="128000"/>
              </a:lnSpc>
              <a:buNone/>
            </a:pPr>
            <a:r>
              <a:rPr lang="en-US" sz="850" dirty="0">
                <a:solidFill>
                  <a:srgbClr val="000000"/>
                </a:solidFill>
                <a:latin typeface="Inter" pitchFamily="34" charset="0"/>
                <a:ea typeface="Inter" pitchFamily="34" charset="-122"/>
                <a:cs typeface="Inter" pitchFamily="34" charset="-120"/>
              </a:rPr>
              <a:t>The </a:t>
            </a:r>
            <a:r>
              <a:rPr lang="en-US" sz="800" b="1" dirty="0">
                <a:solidFill>
                  <a:srgbClr val="990000"/>
                </a:solidFill>
                <a:latin typeface="Inter Bold" pitchFamily="34" charset="0"/>
                <a:ea typeface="Inter Bold" pitchFamily="34" charset="-122"/>
                <a:cs typeface="Inter Bold" pitchFamily="34" charset="-120"/>
              </a:rPr>
              <a:t>Physical World</a:t>
            </a:r>
            <a:r>
              <a:rPr lang="en-US" sz="850" dirty="0">
                <a:solidFill>
                  <a:srgbClr val="000000"/>
                </a:solidFill>
                <a:latin typeface="Inter" pitchFamily="34" charset="0"/>
                <a:ea typeface="Inter" pitchFamily="34" charset="-122"/>
                <a:cs typeface="Inter" pitchFamily="34" charset="-120"/>
              </a:rPr>
              <a:t> where these AI brains </a:t>
            </a:r>
            <a:r>
              <a:rPr lang="en-US" sz="850" dirty="0">
                <a:solidFill>
                  <a:srgbClr val="000000"/>
                </a:solidFill>
                <a:latin typeface="Inter" pitchFamily="34" charset="0"/>
                <a:ea typeface="Inter" pitchFamily="34" charset="-122"/>
                <a:cs typeface="Inter" pitchFamily="34" charset="-120"/>
              </a:rPr>
              <a:t>act, from self-driving cars to smart </a:t>
            </a:r>
            <a:r>
              <a:rPr lang="en-US" sz="850" dirty="0">
                <a:solidFill>
                  <a:srgbClr val="000000"/>
                </a:solidFill>
                <a:latin typeface="Inter" pitchFamily="34" charset="0"/>
                <a:ea typeface="Inter" pitchFamily="34" charset="-122"/>
                <a:cs typeface="Inter" pitchFamily="34" charset="-120"/>
              </a:rPr>
              <a:t>infrastructure.</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685800" y="773646"/>
            <a:ext cx="7772400" cy="628650"/>
          </a:xfrm>
          <a:prstGeom prst="rect">
            <a:avLst/>
          </a:prstGeom>
          <a:noFill/>
          <a:ln/>
        </p:spPr>
        <p:txBody>
          <a:bodyPr wrap="none" lIns="0" tIns="0" rIns="0" bIns="0" rtlCol="0" anchor="t">
            <a:spAutoFit/>
          </a:bodyPr>
          <a:lstStyle/>
          <a:p>
            <a:pPr algn="ctr" indent="0" marL="0">
              <a:lnSpc>
                <a:spcPct val="88000"/>
              </a:lnSpc>
              <a:buNone/>
            </a:pPr>
            <a:r>
              <a:rPr lang="en-US" sz="4150" b="1" dirty="0">
                <a:solidFill>
                  <a:srgbClr val="990000"/>
                </a:solidFill>
                <a:latin typeface="Playfair Display Bold" pitchFamily="34" charset="0"/>
                <a:ea typeface="Playfair Display Bold" pitchFamily="34" charset="-122"/>
                <a:cs typeface="Playfair Display Bold" pitchFamily="34" charset="-120"/>
              </a:rPr>
              <a:t>Your Turn to Build</a:t>
            </a:r>
            <a:endParaRPr lang="en-US" sz="4150" dirty="0"/>
          </a:p>
        </p:txBody>
      </p:sp>
      <p:sp>
        <p:nvSpPr>
          <p:cNvPr id="4" name="Text 1"/>
          <p:cNvSpPr/>
          <p:nvPr/>
        </p:nvSpPr>
        <p:spPr>
          <a:xfrm>
            <a:off x="685800" y="1973796"/>
            <a:ext cx="3671888" cy="685800"/>
          </a:xfrm>
          <a:prstGeom prst="rect">
            <a:avLst/>
          </a:prstGeom>
          <a:noFill/>
          <a:ln/>
        </p:spPr>
        <p:txBody>
          <a:bodyPr wrap="square" lIns="0" tIns="0" rIns="0" bIns="0" rtlCol="0" anchor="t">
            <a:spAutoFit/>
          </a:bodyPr>
          <a:lstStyle/>
          <a:p>
            <a:pPr algn="l" indent="0" marL="0">
              <a:lnSpc>
                <a:spcPct val="128000"/>
              </a:lnSpc>
              <a:buNone/>
            </a:pPr>
            <a:r>
              <a:rPr lang="en-US" sz="1000" b="1" dirty="0">
                <a:solidFill>
                  <a:srgbClr val="990000"/>
                </a:solidFill>
                <a:latin typeface="Inter Bold" pitchFamily="34" charset="0"/>
                <a:ea typeface="Inter Bold" pitchFamily="34" charset="-122"/>
                <a:cs typeface="Inter Bold" pitchFamily="34" charset="-120"/>
              </a:rPr>
              <a:t>The Big Lesson:</a:t>
            </a:r>
            <a:r>
              <a:rPr lang="en-US" sz="1050" dirty="0">
                <a:solidFill>
                  <a:srgbClr val="000000"/>
                </a:solidFill>
                <a:latin typeface="Inter" pitchFamily="34" charset="0"/>
                <a:ea typeface="Inter" pitchFamily="34" charset="-122"/>
                <a:cs typeface="Inter" pitchFamily="34" charset="-120"/>
              </a:rPr>
              <a:t> AI is a tool of scale. It’s not about </a:t>
            </a:r>
            <a:r>
              <a:rPr lang="en-US" sz="1050" dirty="0">
                <a:solidFill>
                  <a:srgbClr val="000000"/>
                </a:solidFill>
                <a:latin typeface="Inter" pitchFamily="34" charset="0"/>
                <a:ea typeface="Inter" pitchFamily="34" charset="-122"/>
                <a:cs typeface="Inter" pitchFamily="34" charset="-120"/>
              </a:rPr>
              <a:t>magic; it’s about the quality and quantity of the </a:t>
            </a:r>
            <a:r>
              <a:rPr lang="en-US" sz="1050" dirty="0">
                <a:solidFill>
                  <a:srgbClr val="000000"/>
                </a:solidFill>
                <a:latin typeface="Inter" pitchFamily="34" charset="0"/>
                <a:ea typeface="Inter" pitchFamily="34" charset="-122"/>
                <a:cs typeface="Inter" pitchFamily="34" charset="-120"/>
              </a:rPr>
              <a:t>examples you provide.</a:t>
            </a:r>
            <a:endParaRPr lang="en-US" sz="1000" dirty="0"/>
          </a:p>
        </p:txBody>
      </p:sp>
      <p:sp>
        <p:nvSpPr>
          <p:cNvPr id="5" name="Text 2"/>
          <p:cNvSpPr/>
          <p:nvPr/>
        </p:nvSpPr>
        <p:spPr>
          <a:xfrm>
            <a:off x="4786313" y="1973796"/>
            <a:ext cx="3671888" cy="685800"/>
          </a:xfrm>
          <a:prstGeom prst="rect">
            <a:avLst/>
          </a:prstGeom>
          <a:noFill/>
          <a:ln/>
        </p:spPr>
        <p:txBody>
          <a:bodyPr wrap="square" lIns="0" tIns="0" rIns="0" bIns="0" rtlCol="0" anchor="t">
            <a:spAutoFit/>
          </a:bodyPr>
          <a:lstStyle/>
          <a:p>
            <a:pPr algn="l" indent="0" marL="0">
              <a:lnSpc>
                <a:spcPct val="128000"/>
              </a:lnSpc>
              <a:buNone/>
            </a:pPr>
            <a:r>
              <a:rPr lang="en-US" sz="1000" b="1" dirty="0">
                <a:solidFill>
                  <a:srgbClr val="990000"/>
                </a:solidFill>
                <a:latin typeface="Inter Bold" pitchFamily="34" charset="0"/>
                <a:ea typeface="Inter Bold" pitchFamily="34" charset="-122"/>
                <a:cs typeface="Inter Bold" pitchFamily="34" charset="-120"/>
              </a:rPr>
              <a:t>Stay Curious:</a:t>
            </a:r>
            <a:r>
              <a:rPr lang="en-US" sz="1050" dirty="0">
                <a:solidFill>
                  <a:srgbClr val="000000"/>
                </a:solidFill>
                <a:latin typeface="Inter" pitchFamily="34" charset="0"/>
                <a:ea typeface="Inter" pitchFamily="34" charset="-122"/>
                <a:cs typeface="Inter" pitchFamily="34" charset="-120"/>
              </a:rPr>
              <a:t> Don’t just use AI—try to understand the </a:t>
            </a:r>
            <a:r>
              <a:rPr lang="en-US" sz="1050" dirty="0">
                <a:solidFill>
                  <a:srgbClr val="000000"/>
                </a:solidFill>
                <a:latin typeface="Inter" pitchFamily="34" charset="0"/>
                <a:ea typeface="Inter" pitchFamily="34" charset="-122"/>
                <a:cs typeface="Inter" pitchFamily="34" charset="-120"/>
              </a:rPr>
              <a:t>data behind it. The next breakthrough could come </a:t>
            </a:r>
            <a:r>
              <a:rPr lang="en-US" sz="1050" dirty="0">
                <a:solidFill>
                  <a:srgbClr val="000000"/>
                </a:solidFill>
                <a:latin typeface="Inter" pitchFamily="34" charset="0"/>
                <a:ea typeface="Inter" pitchFamily="34" charset="-122"/>
                <a:cs typeface="Inter" pitchFamily="34" charset="-120"/>
              </a:rPr>
              <a:t>from you.</a:t>
            </a:r>
            <a:endParaRPr lang="en-US" sz="1000" dirty="0"/>
          </a:p>
        </p:txBody>
      </p:sp>
      <p:sp>
        <p:nvSpPr>
          <p:cNvPr id="6" name="Text 3"/>
          <p:cNvSpPr/>
          <p:nvPr/>
        </p:nvSpPr>
        <p:spPr>
          <a:xfrm>
            <a:off x="3761184" y="3088221"/>
            <a:ext cx="1621631" cy="1000125"/>
          </a:xfrm>
          <a:prstGeom prst="rect">
            <a:avLst/>
          </a:prstGeom>
          <a:noFill/>
          <a:ln/>
        </p:spPr>
        <p:txBody>
          <a:bodyPr wrap="square" lIns="425196" tIns="255143" rIns="425196" bIns="255143" rtlCol="0" anchor="t">
            <a:spAutoFit/>
          </a:bodyPr>
          <a:lstStyle/>
          <a:p>
            <a:pPr algn="ctr" indent="0" marL="0">
              <a:buNone/>
            </a:pPr>
            <a:r>
              <a:rPr lang="en-US" sz="2450" b="1" dirty="0">
                <a:solidFill>
                  <a:srgbClr val="005F73"/>
                </a:solidFill>
                <a:latin typeface="Playfair Display Bold" pitchFamily="34" charset="0"/>
                <a:ea typeface="Playfair Display Bold" pitchFamily="34" charset="-122"/>
                <a:cs typeface="Playfair Display Bold" pitchFamily="34" charset="-120"/>
              </a:rPr>
              <a:t>Q&amp;A</a:t>
            </a:r>
            <a:endParaRPr lang="en-US" sz="2450" dirty="0"/>
          </a:p>
        </p:txBody>
      </p:sp>
      <p:sp>
        <p:nvSpPr>
          <p:cNvPr id="7" name="Text 4"/>
          <p:cNvSpPr/>
          <p:nvPr/>
        </p:nvSpPr>
        <p:spPr>
          <a:xfrm>
            <a:off x="685800" y="4374096"/>
            <a:ext cx="7772400" cy="207169"/>
          </a:xfrm>
          <a:prstGeom prst="rect">
            <a:avLst/>
          </a:prstGeom>
          <a:noFill/>
          <a:ln/>
        </p:spPr>
        <p:txBody>
          <a:bodyPr wrap="square" lIns="0" tIns="0" rIns="0" bIns="0" rtlCol="0" anchor="t">
            <a:spAutoFit/>
          </a:bodyPr>
          <a:lstStyle/>
          <a:p>
            <a:pPr algn="ctr" indent="0" marL="0">
              <a:buNone/>
            </a:pPr>
            <a:r>
              <a:rPr lang="en-US" sz="1200" b="1" dirty="0">
                <a:solidFill>
                  <a:srgbClr val="005F73"/>
                </a:solidFill>
                <a:latin typeface="Inter Bold" pitchFamily="34" charset="0"/>
                <a:ea typeface="Inter Bold" pitchFamily="34" charset="-122"/>
                <a:cs typeface="Inter Bold" pitchFamily="34" charset="-120"/>
              </a:rPr>
              <a:t>Come talk to me after the session!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2026-07-06T04:00:27Z</dcterms:created>
  <dcterms:modified xsi:type="dcterms:W3CDTF">2026-07-06T04:00:27Z</dcterms:modified>
</cp:coreProperties>
</file>